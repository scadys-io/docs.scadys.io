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0" r:id="rId4"/>
    <p:sldId id="257" r:id="rId5"/>
    <p:sldId id="258" r:id="rId6"/>
    <p:sldId id="261" r:id="rId7"/>
    <p:sldId id="259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0000"/>
    <a:srgbClr val="084F6A"/>
    <a:srgbClr val="D1D1D1"/>
    <a:srgbClr val="11838F"/>
    <a:srgbClr val="F5F4EF"/>
    <a:srgbClr val="FFFFFF"/>
    <a:srgbClr val="CC00CC"/>
    <a:srgbClr val="009600"/>
    <a:srgbClr val="3B7D23"/>
    <a:srgbClr val="C04F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>
        <p:scale>
          <a:sx n="150" d="100"/>
          <a:sy n="150" d="100"/>
        </p:scale>
        <p:origin x="5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3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2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09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EB97F2-863B-E67A-012D-B24AB963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8713097-7DE6-D47F-90AF-938979A22FAF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000295-89BC-AE7C-D56F-F0E1D8CB7ED2}"/>
              </a:ext>
            </a:extLst>
          </p:cNvPr>
          <p:cNvCxnSpPr>
            <a:cxnSpLocks/>
          </p:cNvCxnSpPr>
          <p:nvPr/>
        </p:nvCxnSpPr>
        <p:spPr>
          <a:xfrm flipH="1" flipV="1">
            <a:off x="8713132" y="2241259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3FB382-3D40-0857-74BE-C1423D5AA464}"/>
              </a:ext>
            </a:extLst>
          </p:cNvPr>
          <p:cNvCxnSpPr/>
          <p:nvPr/>
        </p:nvCxnSpPr>
        <p:spPr>
          <a:xfrm flipH="1" flipV="1">
            <a:off x="8699686" y="2873268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9C1A0B1-99D8-7649-FDED-BD0EEECA4AA7}"/>
              </a:ext>
            </a:extLst>
          </p:cNvPr>
          <p:cNvCxnSpPr/>
          <p:nvPr/>
        </p:nvCxnSpPr>
        <p:spPr>
          <a:xfrm flipH="1" flipV="1">
            <a:off x="8713132" y="4005064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F5871CA-689B-7CE8-49AF-93DFAA2B3721}"/>
              </a:ext>
            </a:extLst>
          </p:cNvPr>
          <p:cNvSpPr/>
          <p:nvPr/>
        </p:nvSpPr>
        <p:spPr>
          <a:xfrm>
            <a:off x="3935760" y="1268760"/>
            <a:ext cx="2160240" cy="1836205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tx1">
                    <a:lumMod val="75000"/>
                    <a:lumOff val="25000"/>
                  </a:schemeClr>
                </a:solidFill>
              </a:rPr>
              <a:t>DIGITAL Domain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95C892-67DC-C513-168D-833E815C026C}"/>
              </a:ext>
            </a:extLst>
          </p:cNvPr>
          <p:cNvSpPr txBox="1">
            <a:spLocks/>
          </p:cNvSpPr>
          <p:nvPr/>
        </p:nvSpPr>
        <p:spPr>
          <a:xfrm>
            <a:off x="1307468" y="5553280"/>
            <a:ext cx="5283290" cy="5760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Isolated Domains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2651D19-6C23-0DE8-9513-29840F354807}"/>
              </a:ext>
            </a:extLst>
          </p:cNvPr>
          <p:cNvSpPr/>
          <p:nvPr/>
        </p:nvSpPr>
        <p:spPr>
          <a:xfrm>
            <a:off x="3590717" y="1725622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4B099A6F-BE01-9A83-EBF5-054729F10885}"/>
              </a:ext>
            </a:extLst>
          </p:cNvPr>
          <p:cNvSpPr/>
          <p:nvPr/>
        </p:nvSpPr>
        <p:spPr>
          <a:xfrm>
            <a:off x="3590717" y="2873268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719B4B48-21EB-F521-33A6-8ED073A092C8}"/>
              </a:ext>
            </a:extLst>
          </p:cNvPr>
          <p:cNvSpPr/>
          <p:nvPr/>
        </p:nvSpPr>
        <p:spPr>
          <a:xfrm rot="5400000">
            <a:off x="5329829" y="3235049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D4381-EFF1-3A96-CC4E-CF77D35490FF}"/>
              </a:ext>
            </a:extLst>
          </p:cNvPr>
          <p:cNvSpPr/>
          <p:nvPr/>
        </p:nvSpPr>
        <p:spPr>
          <a:xfrm>
            <a:off x="1775520" y="2708920"/>
            <a:ext cx="1692188" cy="28443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CAN Domain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7D4F74-1475-657A-59E8-8E6BD60DA7DE}"/>
              </a:ext>
            </a:extLst>
          </p:cNvPr>
          <p:cNvSpPr/>
          <p:nvPr/>
        </p:nvSpPr>
        <p:spPr>
          <a:xfrm>
            <a:off x="1775520" y="1268760"/>
            <a:ext cx="1692188" cy="1111747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SMPS Domain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129D5C6-DB59-D56C-C577-BCC8FC71E744}"/>
              </a:ext>
            </a:extLst>
          </p:cNvPr>
          <p:cNvSpPr/>
          <p:nvPr/>
        </p:nvSpPr>
        <p:spPr>
          <a:xfrm rot="16200000">
            <a:off x="2494514" y="2445703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6956C1-036D-851B-EFF9-0D464E9E5C35}"/>
              </a:ext>
            </a:extLst>
          </p:cNvPr>
          <p:cNvSpPr/>
          <p:nvPr/>
        </p:nvSpPr>
        <p:spPr>
          <a:xfrm>
            <a:off x="4727848" y="3499990"/>
            <a:ext cx="1368152" cy="2053289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LEGACY IO Domain</a:t>
            </a:r>
          </a:p>
        </p:txBody>
      </p:sp>
    </p:spTree>
    <p:extLst>
      <p:ext uri="{BB962C8B-B14F-4D97-AF65-F5344CB8AC3E}">
        <p14:creationId xmlns:p14="http://schemas.microsoft.com/office/powerpoint/2010/main" val="3065089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B0CCB-B588-E010-6D89-4405D1BB1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960" y="404664"/>
            <a:ext cx="4965104" cy="49296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1628800"/>
            <a:ext cx="1692188" cy="356439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2236847" y="3180166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447927" y="2708920"/>
            <a:ext cx="1008113" cy="2412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935760" y="584684"/>
            <a:ext cx="2520280" cy="16561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4537197" y="1367108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447927" y="3330130"/>
            <a:ext cx="1080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LEGACY IO Domain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4CC541-6ACB-2E9A-0978-AFAB40E8B142}"/>
              </a:ext>
            </a:extLst>
          </p:cNvPr>
          <p:cNvSpPr/>
          <p:nvPr/>
        </p:nvSpPr>
        <p:spPr>
          <a:xfrm>
            <a:off x="1811524" y="548680"/>
            <a:ext cx="1692188" cy="900100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E450E8-4C54-1773-E908-40922E0FBB06}"/>
              </a:ext>
            </a:extLst>
          </p:cNvPr>
          <p:cNvSpPr txBox="1"/>
          <p:nvPr/>
        </p:nvSpPr>
        <p:spPr>
          <a:xfrm>
            <a:off x="2169367" y="883314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SMPS Domain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711320"/>
            <a:ext cx="5283290" cy="576036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236495-055B-E7D5-DBF1-0253F6EC3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F3416E-B13F-002D-AD8F-4F3F29CABB22}"/>
              </a:ext>
            </a:extLst>
          </p:cNvPr>
          <p:cNvSpPr/>
          <p:nvPr/>
        </p:nvSpPr>
        <p:spPr>
          <a:xfrm>
            <a:off x="1883532" y="1664804"/>
            <a:ext cx="1702405" cy="716921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FA95E4-96FB-9DE6-56E2-535328F856F3}"/>
              </a:ext>
            </a:extLst>
          </p:cNvPr>
          <p:cNvSpPr/>
          <p:nvPr/>
        </p:nvSpPr>
        <p:spPr>
          <a:xfrm>
            <a:off x="1883531" y="2572356"/>
            <a:ext cx="1695853" cy="2637819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A8E8709-4FD4-A715-F9E9-110B2B820029}"/>
              </a:ext>
            </a:extLst>
          </p:cNvPr>
          <p:cNvSpPr/>
          <p:nvPr/>
        </p:nvSpPr>
        <p:spPr>
          <a:xfrm>
            <a:off x="3867150" y="566738"/>
            <a:ext cx="2652713" cy="4643437"/>
          </a:xfrm>
          <a:custGeom>
            <a:avLst/>
            <a:gdLst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09713 w 2652713"/>
              <a:gd name="connsiteY7" fmla="*/ 1928812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19250 w 2652713"/>
              <a:gd name="connsiteY9" fmla="*/ 1816100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52713" h="4643437">
                <a:moveTo>
                  <a:pt x="0" y="4762"/>
                </a:moveTo>
                <a:lnTo>
                  <a:pt x="0" y="4643437"/>
                </a:lnTo>
                <a:lnTo>
                  <a:pt x="1514475" y="4633912"/>
                </a:lnTo>
                <a:cubicBezTo>
                  <a:pt x="1512888" y="3975100"/>
                  <a:pt x="1511300" y="3316287"/>
                  <a:pt x="1509713" y="2657475"/>
                </a:cubicBezTo>
                <a:lnTo>
                  <a:pt x="171450" y="2652712"/>
                </a:lnTo>
                <a:cubicBezTo>
                  <a:pt x="173038" y="2441575"/>
                  <a:pt x="174625" y="2230437"/>
                  <a:pt x="176213" y="2019300"/>
                </a:cubicBezTo>
                <a:lnTo>
                  <a:pt x="1519238" y="2033587"/>
                </a:lnTo>
                <a:cubicBezTo>
                  <a:pt x="1520296" y="1997604"/>
                  <a:pt x="1521355" y="1961620"/>
                  <a:pt x="1522413" y="1925637"/>
                </a:cubicBezTo>
                <a:lnTo>
                  <a:pt x="1624013" y="1928812"/>
                </a:lnTo>
                <a:lnTo>
                  <a:pt x="1619250" y="1816100"/>
                </a:lnTo>
                <a:lnTo>
                  <a:pt x="2652713" y="1824037"/>
                </a:lnTo>
                <a:lnTo>
                  <a:pt x="2652713" y="1347787"/>
                </a:lnTo>
                <a:lnTo>
                  <a:pt x="2433638" y="1347787"/>
                </a:lnTo>
                <a:lnTo>
                  <a:pt x="2443163" y="371475"/>
                </a:lnTo>
                <a:lnTo>
                  <a:pt x="2652713" y="366712"/>
                </a:lnTo>
                <a:lnTo>
                  <a:pt x="2652713" y="0"/>
                </a:lnTo>
                <a:lnTo>
                  <a:pt x="0" y="4762"/>
                </a:lnTo>
                <a:close/>
              </a:path>
            </a:pathLst>
          </a:cu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83532" y="548680"/>
            <a:ext cx="1767860" cy="828092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767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 refrerence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647825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reference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6" y="2560081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980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signal ground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465770" y="2600908"/>
            <a:ext cx="1054093" cy="2609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437951" y="2654856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9AEEB-5E0F-E83E-045D-7B3D1976FC9B}"/>
              </a:ext>
            </a:extLst>
          </p:cNvPr>
          <p:cNvSpPr txBox="1"/>
          <p:nvPr/>
        </p:nvSpPr>
        <p:spPr>
          <a:xfrm>
            <a:off x="2248633" y="2353930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(12V)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CADC81-F222-B9CC-7E44-48B9F1DA2A0E}"/>
              </a:ext>
            </a:extLst>
          </p:cNvPr>
          <p:cNvSpPr txBox="1"/>
          <p:nvPr/>
        </p:nvSpPr>
        <p:spPr>
          <a:xfrm>
            <a:off x="2772093" y="2354687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(CAN)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26AE9-DADD-B8AE-0DF6-A43F241A72CD}"/>
              </a:ext>
            </a:extLst>
          </p:cNvPr>
          <p:cNvSpPr txBox="1"/>
          <p:nvPr/>
        </p:nvSpPr>
        <p:spPr>
          <a:xfrm>
            <a:off x="2079355" y="1419171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EAC7F-2A61-2754-15E9-07EEE73D3CE2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E5D57A-23A1-F6B8-CF32-1845C85BE49B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D931B-5F0B-2AA5-3279-C6E851071151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414151-6B52-D96B-C2AF-6D8F21352EAA}"/>
              </a:ext>
            </a:extLst>
          </p:cNvPr>
          <p:cNvSpPr/>
          <p:nvPr/>
        </p:nvSpPr>
        <p:spPr>
          <a:xfrm>
            <a:off x="4070521" y="2636912"/>
            <a:ext cx="1296144" cy="54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76D50-D360-937A-95AE-07D20605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536EF5-13FA-B8AB-D6E8-EB2FAAE7928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CC825A-3191-EE57-0FF2-E8F8AE02E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794" y="415274"/>
            <a:ext cx="4954983" cy="4947331"/>
          </a:xfrm>
          <a:prstGeom prst="rect">
            <a:avLst/>
          </a:prstGeom>
          <a:solidFill>
            <a:srgbClr val="A20000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17E81-ED03-849E-C61D-F5A86E7B1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468" y="5648551"/>
            <a:ext cx="3384376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Domains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EA29D-C1F2-C859-0EAF-A0A57E36C3C1}"/>
              </a:ext>
            </a:extLst>
          </p:cNvPr>
          <p:cNvSpPr txBox="1"/>
          <p:nvPr/>
        </p:nvSpPr>
        <p:spPr>
          <a:xfrm rot="16200000">
            <a:off x="3263039" y="837992"/>
            <a:ext cx="78418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CM Chokes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75AF3-E1FC-B231-255F-995DFE9BED29}"/>
              </a:ext>
            </a:extLst>
          </p:cNvPr>
          <p:cNvSpPr txBox="1"/>
          <p:nvPr/>
        </p:nvSpPr>
        <p:spPr>
          <a:xfrm>
            <a:off x="5518971" y="2393008"/>
            <a:ext cx="9476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Opto-isolators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ED8AB-371F-F6EF-D4B5-197FA235DD09}"/>
              </a:ext>
            </a:extLst>
          </p:cNvPr>
          <p:cNvSpPr txBox="1"/>
          <p:nvPr/>
        </p:nvSpPr>
        <p:spPr>
          <a:xfrm>
            <a:off x="2135560" y="1412776"/>
            <a:ext cx="5934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Ferrites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0084E9-EDFC-EAFE-DE90-139AA59DBE24}"/>
              </a:ext>
            </a:extLst>
          </p:cNvPr>
          <p:cNvSpPr/>
          <p:nvPr/>
        </p:nvSpPr>
        <p:spPr>
          <a:xfrm>
            <a:off x="1893633" y="1684052"/>
            <a:ext cx="1574076" cy="2212999"/>
          </a:xfrm>
          <a:prstGeom prst="rect">
            <a:avLst/>
          </a:prstGeom>
          <a:solidFill>
            <a:srgbClr val="A20000">
              <a:alpha val="40000"/>
            </a:srgbClr>
          </a:solidFill>
          <a:ln w="19050">
            <a:solidFill>
              <a:srgbClr val="A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highlight>
                <a:srgbClr val="A20000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B07CB-46C9-4097-77A1-7726323E6ABA}"/>
              </a:ext>
            </a:extLst>
          </p:cNvPr>
          <p:cNvSpPr/>
          <p:nvPr/>
        </p:nvSpPr>
        <p:spPr>
          <a:xfrm>
            <a:off x="1887389" y="619639"/>
            <a:ext cx="1574076" cy="721128"/>
          </a:xfrm>
          <a:prstGeom prst="rect">
            <a:avLst/>
          </a:prstGeom>
          <a:solidFill>
            <a:srgbClr val="084F6A">
              <a:alpha val="40000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6D954-C391-5DC3-3975-7854A23586B1}"/>
              </a:ext>
            </a:extLst>
          </p:cNvPr>
          <p:cNvSpPr/>
          <p:nvPr/>
        </p:nvSpPr>
        <p:spPr>
          <a:xfrm>
            <a:off x="3898305" y="619639"/>
            <a:ext cx="2521732" cy="1771874"/>
          </a:xfrm>
          <a:prstGeom prst="rect">
            <a:avLst/>
          </a:prstGeom>
          <a:solidFill>
            <a:schemeClr val="bg2">
              <a:alpha val="40000"/>
            </a:schemeClr>
          </a:solidFill>
          <a:ln w="190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7ED21A-2DBC-B28D-FDC5-62CDDC02F5AB}"/>
              </a:ext>
            </a:extLst>
          </p:cNvPr>
          <p:cNvSpPr/>
          <p:nvPr/>
        </p:nvSpPr>
        <p:spPr>
          <a:xfrm>
            <a:off x="5452643" y="2628463"/>
            <a:ext cx="1014024" cy="2096681"/>
          </a:xfrm>
          <a:prstGeom prst="rect">
            <a:avLst/>
          </a:prstGeom>
          <a:solidFill>
            <a:srgbClr val="11838F">
              <a:alpha val="50196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A5E16-390E-11D2-44F8-0ED5AF71F5E6}"/>
              </a:ext>
            </a:extLst>
          </p:cNvPr>
          <p:cNvSpPr txBox="1"/>
          <p:nvPr/>
        </p:nvSpPr>
        <p:spPr>
          <a:xfrm>
            <a:off x="1786945" y="842460"/>
            <a:ext cx="1767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i="1">
                <a:solidFill>
                  <a:schemeClr val="bg1"/>
                </a:solidFill>
              </a:rPr>
              <a:t>SMPS</a:t>
            </a:r>
            <a:r>
              <a:rPr lang="en-US" sz="900" b="1">
                <a:solidFill>
                  <a:schemeClr val="bg1"/>
                </a:solidFill>
              </a:rPr>
              <a:t>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5923FB-8A5D-3D8A-4CF0-9B6F6411A519}"/>
              </a:ext>
            </a:extLst>
          </p:cNvPr>
          <p:cNvSpPr txBox="1"/>
          <p:nvPr/>
        </p:nvSpPr>
        <p:spPr>
          <a:xfrm>
            <a:off x="2017504" y="2354831"/>
            <a:ext cx="12961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1CCCD8-904E-77D0-57E3-2308BBEBE4A1}"/>
              </a:ext>
            </a:extLst>
          </p:cNvPr>
          <p:cNvSpPr txBox="1"/>
          <p:nvPr/>
        </p:nvSpPr>
        <p:spPr>
          <a:xfrm>
            <a:off x="4217095" y="1282242"/>
            <a:ext cx="19806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i="1">
                <a:solidFill>
                  <a:schemeClr val="tx1">
                    <a:lumMod val="85000"/>
                    <a:lumOff val="15000"/>
                  </a:schemeClr>
                </a:solidFill>
              </a:rPr>
              <a:t>DIGITAL</a:t>
            </a:r>
            <a:r>
              <a:rPr lang="en-US" sz="900" b="1">
                <a:solidFill>
                  <a:schemeClr val="tx1">
                    <a:lumMod val="85000"/>
                    <a:lumOff val="15000"/>
                  </a:schemeClr>
                </a:solidFill>
              </a:rPr>
              <a:t> Domain</a:t>
            </a:r>
            <a:endParaRPr lang="en-US" sz="9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ECF8EC-4BEB-A1A2-9D17-9F7F0C5FE3C0}"/>
              </a:ext>
            </a:extLst>
          </p:cNvPr>
          <p:cNvSpPr txBox="1"/>
          <p:nvPr/>
        </p:nvSpPr>
        <p:spPr>
          <a:xfrm>
            <a:off x="5452643" y="3489324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i="1">
                <a:solidFill>
                  <a:schemeClr val="bg1"/>
                </a:solidFill>
              </a:rPr>
              <a:t>LEGACY IO</a:t>
            </a:r>
            <a:r>
              <a:rPr lang="en-US" sz="900" b="1">
                <a:solidFill>
                  <a:schemeClr val="bg1"/>
                </a:solidFill>
              </a:rPr>
              <a:t> Domain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979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973DDE-3556-6273-883D-E3759EAF2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D0CEA3-D61B-5199-66C5-566C884A81BB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BCF9E-6035-669C-5ADB-8BD409FB9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SMPS Ground Plane and Layout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71846-D08F-4F66-274B-CDE43FE5E5F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5FA6-45DF-A9E3-6EDB-6A71F2D9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92" y="2520360"/>
            <a:ext cx="5832648" cy="31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11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F629B6-AAF2-8DD4-4D95-87E0CCA3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AE7B84-6C76-9D8C-D157-83634D4DD3DF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AC1989-A459-6D88-A2F0-A95D6D08E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Shaped Waveform at 2kHz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FCABF-BBF9-D995-13C6-C015C1E30C2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8B891D-9689-2D83-C32E-363BAC415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93" y="2924944"/>
            <a:ext cx="5994821" cy="269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24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202</Words>
  <Application>Microsoft Office PowerPoint</Application>
  <PresentationFormat>Widescreen</PresentationFormat>
  <Paragraphs>79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Eras Demi ITC</vt:lpstr>
      <vt:lpstr>Office Theme</vt:lpstr>
      <vt:lpstr>PowerPoint Presentation</vt:lpstr>
      <vt:lpstr>PowerPoint Presentation</vt:lpstr>
      <vt:lpstr>MDD400 Isolation Domains</vt:lpstr>
      <vt:lpstr>MDD400 Functional Block Diagram</vt:lpstr>
      <vt:lpstr>MDD400 Ground Planes</vt:lpstr>
      <vt:lpstr>MDD400 Functional Domains</vt:lpstr>
      <vt:lpstr>Thermal Management</vt:lpstr>
      <vt:lpstr>SMPS Ground Plane and Layout</vt:lpstr>
      <vt:lpstr>Shaped Waveform at 2kHz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21</cp:revision>
  <dcterms:created xsi:type="dcterms:W3CDTF">2025-07-22T00:51:10Z</dcterms:created>
  <dcterms:modified xsi:type="dcterms:W3CDTF">2025-08-04T06:04:34Z</dcterms:modified>
</cp:coreProperties>
</file>