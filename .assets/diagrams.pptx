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60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CC"/>
    <a:srgbClr val="11838F"/>
    <a:srgbClr val="009600"/>
    <a:srgbClr val="A20000"/>
    <a:srgbClr val="D1D1D1"/>
    <a:srgbClr val="3B7D23"/>
    <a:srgbClr val="C04F15"/>
    <a:srgbClr val="B1B100"/>
    <a:srgbClr val="215F9A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>
      <p:cViewPr varScale="1">
        <p:scale>
          <a:sx n="148" d="100"/>
          <a:sy n="148" d="100"/>
        </p:scale>
        <p:origin x="62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09B85E-FD1D-4C87-B36A-F5C287A24482}" type="datetimeFigureOut">
              <a:rPr lang="en-US" smtClean="0"/>
              <a:t>7/25/2025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D017A1-7FA2-4FB5-A9B9-704691091C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265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D017A1-7FA2-4FB5-A9B9-704691091C1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918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A4FE8-0252-A54E-EB18-5C1C37D21C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E8130C-92C7-8299-5BAC-C9B0101C84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719DC-0BF4-08A7-0FDA-4BFBF979C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49B836-B974-7CCE-8FC1-E811A5256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526088-A9F1-E0E0-B5FD-22AD18C88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203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FE4D7-CEF8-C606-6677-567B3F6DF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3A0B72-8C62-481F-F083-96964D0143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6163E7-4D94-E059-F841-2375FEC2E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6CB0E5-99A1-AFB6-4B4C-000DAAD43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5B19EC-67AF-B7AA-D6E0-2DAE626BB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5303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318CB-27A1-23FC-7FDE-CDFFA404A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D38E94-DC55-0B4C-40C1-E5D91D674A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81198-4C31-2525-B8BD-E6C8AC75B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93324-518C-0AB3-8821-949BBAA3D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85E570-5F69-51DD-3596-08E3ACD4F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7616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61CD9-2276-DF6B-D760-05F69A0E8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746AF-8B00-5ED1-5E63-5B5400444D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CF7A97-34C0-D93D-3C2A-5A8B1B7D61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AEADE-29AD-E334-5059-FD05EA9F0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FD4973-2E37-D72B-0629-301FD79BD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38AF56-3C78-01E9-EC3D-F599EF0C3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513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79A02-A76B-669D-B6BC-E949DDE73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E9EE8-43E6-4AED-27EA-09542909C5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6F0BC1-DD7F-CE4D-02BD-54EC90497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CD3D30-3D11-308D-F2E7-CE1BC85C38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3DFD4-9A97-2F49-EA8E-429783F383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901019-F4BB-FF24-0936-C30E1CEF8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F78378-DF6D-6E8C-08A7-566347ECC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7C8CF9-A38D-36DC-CD0B-CDBB794AE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6338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C5231-D1CC-AF1E-7157-3185F4D02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4627B7-2250-4977-6FFD-BE2D0B036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C5F874-D7E7-5B32-4EB5-F35015939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A25BEB-95D8-E920-0930-E22FBA969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639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E41AEA-32D8-8BF1-9998-2644481CE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B76242-4088-D516-E685-8AE01E0AC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7D8BCA-46CD-DC68-13DE-F23D532E2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547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4B67F-2898-7843-0057-671D03046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30F788-1FB0-F92E-FEB5-16CFCAB2FD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442066-B47B-F969-FA65-1BD935B98C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3B2E4A-5C6F-5EAC-EA6A-9ED528411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C31B95-6179-7443-B38E-3A15B2015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4BD1CB-B6D2-C139-601F-ECE1E6721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4676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F1218-5BDF-7A40-9101-F35B00771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8FA99B-41AD-4AB7-2ACD-AB1F536452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F685DC-59A4-6F08-D868-8F93A0EA31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D8A1A0-29BF-5432-9599-7C6D4FC22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D96D81-2CB5-676A-39A4-300FEA8F9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AF3BE4-C505-4FC6-2258-A1224CDBF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213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78E4B-8875-E10A-191C-0811ED8A7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92A49A-0086-88CF-5ADC-CE04AAC052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841724-D660-1BC9-2223-5966A68C3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15B3C-89FE-A310-5B9E-04FC1534D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21045F-5A5F-213F-F87A-5A5C04E2A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15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5014363-762A-F91D-3FBF-10D6C258B5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E23165-8D37-6419-58C9-DEF4177BF8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FAEE8-71DE-FB6A-E66E-3A7B7FD23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85BDFB-A90F-2719-4499-80F13BA75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335A81-0A9B-309F-6DD4-ED2833A7C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735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4C260C-4644-E6FE-D921-7FA720938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F2AFEA-D12F-1366-7B0A-104276123B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262921-D47D-FB78-0AF8-DDBE2EC122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C30635-7F4C-458C-AB0B-9951B311FD29}" type="datetimeFigureOut">
              <a:rPr lang="en-US" smtClean="0"/>
              <a:t>7/25/2025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3F6546-8217-3ADC-AD77-4D4C1CA114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C52A7C-C07C-D1DF-A8A1-BB057E72E3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046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1DBC841-0216-A3CC-BD02-716D788C484D}"/>
              </a:ext>
            </a:extLst>
          </p:cNvPr>
          <p:cNvSpPr/>
          <p:nvPr/>
        </p:nvSpPr>
        <p:spPr>
          <a:xfrm>
            <a:off x="2570002" y="1682844"/>
            <a:ext cx="1403324" cy="230617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MCU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9C6447-3D85-8A2D-17CA-6584151B7CFF}"/>
              </a:ext>
            </a:extLst>
          </p:cNvPr>
          <p:cNvSpPr/>
          <p:nvPr/>
        </p:nvSpPr>
        <p:spPr>
          <a:xfrm>
            <a:off x="4920996" y="1682844"/>
            <a:ext cx="979741" cy="54236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EN </a:t>
            </a:r>
            <a:r>
              <a:rPr lang="en-US" sz="1400">
                <a:solidFill>
                  <a:srgbClr val="3D8887"/>
                </a:solidFill>
              </a:rPr>
              <a:t>Isolator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1369AA-233E-B0A0-802A-43BE911BA561}"/>
              </a:ext>
            </a:extLst>
          </p:cNvPr>
          <p:cNvSpPr/>
          <p:nvPr/>
        </p:nvSpPr>
        <p:spPr>
          <a:xfrm>
            <a:off x="4920996" y="2314854"/>
            <a:ext cx="979741" cy="54236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TX </a:t>
            </a:r>
            <a:r>
              <a:rPr lang="en-US" sz="1400">
                <a:solidFill>
                  <a:srgbClr val="3D8887"/>
                </a:solidFill>
              </a:rPr>
              <a:t>Isolator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57EE796-F690-137D-81F1-FB7105770A08}"/>
              </a:ext>
            </a:extLst>
          </p:cNvPr>
          <p:cNvSpPr/>
          <p:nvPr/>
        </p:nvSpPr>
        <p:spPr>
          <a:xfrm>
            <a:off x="4920996" y="3446649"/>
            <a:ext cx="979741" cy="54236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RX </a:t>
            </a:r>
            <a:r>
              <a:rPr lang="en-US" sz="1400">
                <a:solidFill>
                  <a:srgbClr val="3D8887"/>
                </a:solidFill>
              </a:rPr>
              <a:t>Isolator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C1766AC-47D0-9156-0084-1CDD2793929C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3986772" y="1954026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7F3A6A4-3F92-328A-2B1A-63E95E614832}"/>
              </a:ext>
            </a:extLst>
          </p:cNvPr>
          <p:cNvCxnSpPr/>
          <p:nvPr/>
        </p:nvCxnSpPr>
        <p:spPr>
          <a:xfrm flipH="1" flipV="1">
            <a:off x="3973326" y="2586035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281C8EB-DC9D-D6E7-FC1C-BCEBD1DDB673}"/>
              </a:ext>
            </a:extLst>
          </p:cNvPr>
          <p:cNvCxnSpPr/>
          <p:nvPr/>
        </p:nvCxnSpPr>
        <p:spPr>
          <a:xfrm flipH="1" flipV="1">
            <a:off x="3986772" y="3717831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7635CCE-5FC9-1331-F958-786B5BFD6207}"/>
              </a:ext>
            </a:extLst>
          </p:cNvPr>
          <p:cNvSpPr txBox="1"/>
          <p:nvPr/>
        </p:nvSpPr>
        <p:spPr>
          <a:xfrm>
            <a:off x="4146928" y="1742025"/>
            <a:ext cx="5870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>
                <a:solidFill>
                  <a:srgbClr val="3D8887"/>
                </a:solidFill>
              </a:rPr>
              <a:t>ST_EN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9D4B4E-A3D6-E455-3588-A7502EC71667}"/>
              </a:ext>
            </a:extLst>
          </p:cNvPr>
          <p:cNvSpPr txBox="1"/>
          <p:nvPr/>
        </p:nvSpPr>
        <p:spPr>
          <a:xfrm>
            <a:off x="4147971" y="2357531"/>
            <a:ext cx="55976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>
                <a:solidFill>
                  <a:srgbClr val="3D8887"/>
                </a:solidFill>
              </a:rPr>
              <a:t>U1_TX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D88BEE9-A241-E75E-C05A-0D9045FFBA20}"/>
              </a:ext>
            </a:extLst>
          </p:cNvPr>
          <p:cNvSpPr txBox="1"/>
          <p:nvPr/>
        </p:nvSpPr>
        <p:spPr>
          <a:xfrm>
            <a:off x="4158460" y="3489227"/>
            <a:ext cx="57740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>
                <a:solidFill>
                  <a:srgbClr val="3D8887"/>
                </a:solidFill>
              </a:rPr>
              <a:t>U1_RX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3D77161-20AD-F2CE-D7A5-96FCAE25B72B}"/>
              </a:ext>
            </a:extLst>
          </p:cNvPr>
          <p:cNvSpPr/>
          <p:nvPr/>
        </p:nvSpPr>
        <p:spPr>
          <a:xfrm>
            <a:off x="6664944" y="1682844"/>
            <a:ext cx="890935" cy="117437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NMOS</a:t>
            </a:r>
          </a:p>
          <a:p>
            <a:pPr algn="ctr"/>
            <a:r>
              <a:rPr lang="en-US" sz="1400">
                <a:solidFill>
                  <a:srgbClr val="3D8887"/>
                </a:solidFill>
              </a:rPr>
              <a:t>Line Driver</a:t>
            </a:r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F4E69242-7965-FD52-BBD9-BB064DC7AA0A}"/>
              </a:ext>
            </a:extLst>
          </p:cNvPr>
          <p:cNvSpPr/>
          <p:nvPr/>
        </p:nvSpPr>
        <p:spPr>
          <a:xfrm rot="5400000">
            <a:off x="7043739" y="3559828"/>
            <a:ext cx="316006" cy="316006"/>
          </a:xfrm>
          <a:prstGeom prst="triangle">
            <a:avLst/>
          </a:prstGeom>
          <a:solidFill>
            <a:srgbClr val="840000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D34E6B7-9A8F-1079-E25D-70C3B42B8128}"/>
              </a:ext>
            </a:extLst>
          </p:cNvPr>
          <p:cNvSpPr/>
          <p:nvPr/>
        </p:nvSpPr>
        <p:spPr>
          <a:xfrm>
            <a:off x="7336772" y="3559828"/>
            <a:ext cx="83344" cy="316006"/>
          </a:xfrm>
          <a:custGeom>
            <a:avLst/>
            <a:gdLst>
              <a:gd name="connsiteX0" fmla="*/ 83344 w 83344"/>
              <a:gd name="connsiteY0" fmla="*/ 2381 h 426243"/>
              <a:gd name="connsiteX1" fmla="*/ 33338 w 83344"/>
              <a:gd name="connsiteY1" fmla="*/ 0 h 426243"/>
              <a:gd name="connsiteX2" fmla="*/ 38100 w 83344"/>
              <a:gd name="connsiteY2" fmla="*/ 426243 h 426243"/>
              <a:gd name="connsiteX3" fmla="*/ 0 w 83344"/>
              <a:gd name="connsiteY3" fmla="*/ 426243 h 4262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344" h="426243">
                <a:moveTo>
                  <a:pt x="83344" y="2381"/>
                </a:moveTo>
                <a:lnTo>
                  <a:pt x="33338" y="0"/>
                </a:lnTo>
                <a:cubicBezTo>
                  <a:pt x="34925" y="142081"/>
                  <a:pt x="36513" y="284162"/>
                  <a:pt x="38100" y="426243"/>
                </a:cubicBezTo>
                <a:lnTo>
                  <a:pt x="0" y="426243"/>
                </a:lnTo>
              </a:path>
            </a:pathLst>
          </a:custGeom>
          <a:noFill/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763D878-50F3-F8CF-E327-3757F952966A}"/>
              </a:ext>
            </a:extLst>
          </p:cNvPr>
          <p:cNvCxnSpPr>
            <a:stCxn id="19" idx="3"/>
          </p:cNvCxnSpPr>
          <p:nvPr/>
        </p:nvCxnSpPr>
        <p:spPr>
          <a:xfrm flipH="1">
            <a:off x="6910528" y="3717831"/>
            <a:ext cx="133211" cy="0"/>
          </a:xfrm>
          <a:prstGeom prst="line">
            <a:avLst/>
          </a:prstGeom>
          <a:ln>
            <a:solidFill>
              <a:srgbClr val="84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D231D34-C3B2-0262-CDE9-175E319A9B8A}"/>
              </a:ext>
            </a:extLst>
          </p:cNvPr>
          <p:cNvCxnSpPr/>
          <p:nvPr/>
        </p:nvCxnSpPr>
        <p:spPr>
          <a:xfrm flipH="1">
            <a:off x="7378444" y="3717831"/>
            <a:ext cx="133211" cy="0"/>
          </a:xfrm>
          <a:prstGeom prst="line">
            <a:avLst/>
          </a:prstGeom>
          <a:ln>
            <a:solidFill>
              <a:srgbClr val="84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B973252-6EC7-9BB7-BA4E-3E6A8D47DC6D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5900737" y="3717832"/>
            <a:ext cx="1034970" cy="0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0F75D476-4655-C26C-B19E-3EE1C72399D3}"/>
              </a:ext>
            </a:extLst>
          </p:cNvPr>
          <p:cNvSpPr/>
          <p:nvPr/>
        </p:nvSpPr>
        <p:spPr>
          <a:xfrm>
            <a:off x="8320086" y="2314854"/>
            <a:ext cx="1403324" cy="1018896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3D8887"/>
                </a:solidFill>
              </a:rPr>
              <a:t>Signal and Power Conditioning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F639E01-39EF-43EC-8E04-96B2821DE361}"/>
              </a:ext>
            </a:extLst>
          </p:cNvPr>
          <p:cNvCxnSpPr>
            <a:stCxn id="6" idx="3"/>
          </p:cNvCxnSpPr>
          <p:nvPr/>
        </p:nvCxnSpPr>
        <p:spPr>
          <a:xfrm flipV="1">
            <a:off x="5900737" y="1954026"/>
            <a:ext cx="764207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7DB6778-2CE0-E099-1F08-5913BCC44EB7}"/>
              </a:ext>
            </a:extLst>
          </p:cNvPr>
          <p:cNvCxnSpPr>
            <a:stCxn id="7" idx="3"/>
          </p:cNvCxnSpPr>
          <p:nvPr/>
        </p:nvCxnSpPr>
        <p:spPr>
          <a:xfrm flipV="1">
            <a:off x="5900737" y="2586035"/>
            <a:ext cx="764207" cy="2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29BF0A10-30E9-280E-4B8C-FBF2CBD753D8}"/>
              </a:ext>
            </a:extLst>
          </p:cNvPr>
          <p:cNvCxnSpPr>
            <a:cxnSpLocks/>
            <a:stCxn id="18" idx="3"/>
            <a:endCxn id="34" idx="1"/>
          </p:cNvCxnSpPr>
          <p:nvPr/>
        </p:nvCxnSpPr>
        <p:spPr>
          <a:xfrm>
            <a:off x="7555879" y="2270032"/>
            <a:ext cx="764207" cy="554270"/>
          </a:xfrm>
          <a:prstGeom prst="bentConnector3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E7226D52-1E3B-E76D-5D10-ECE9F6781051}"/>
              </a:ext>
            </a:extLst>
          </p:cNvPr>
          <p:cNvSpPr/>
          <p:nvPr/>
        </p:nvSpPr>
        <p:spPr>
          <a:xfrm>
            <a:off x="7519987" y="2838450"/>
            <a:ext cx="423863" cy="881062"/>
          </a:xfrm>
          <a:custGeom>
            <a:avLst/>
            <a:gdLst>
              <a:gd name="connsiteX0" fmla="*/ 419100 w 423863"/>
              <a:gd name="connsiteY0" fmla="*/ 0 h 881062"/>
              <a:gd name="connsiteX1" fmla="*/ 423863 w 423863"/>
              <a:gd name="connsiteY1" fmla="*/ 876300 h 881062"/>
              <a:gd name="connsiteX2" fmla="*/ 0 w 423863"/>
              <a:gd name="connsiteY2" fmla="*/ 881062 h 881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3863" h="881062">
                <a:moveTo>
                  <a:pt x="419100" y="0"/>
                </a:moveTo>
                <a:cubicBezTo>
                  <a:pt x="420688" y="292100"/>
                  <a:pt x="422275" y="584200"/>
                  <a:pt x="423863" y="876300"/>
                </a:cubicBezTo>
                <a:lnTo>
                  <a:pt x="0" y="881062"/>
                </a:lnTo>
              </a:path>
            </a:pathLst>
          </a:custGeom>
          <a:noFill/>
          <a:ln w="19050">
            <a:solidFill>
              <a:srgbClr val="009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168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DC66077-2095-BE17-64BB-49727395C2C3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BD6B5A-4076-E3F8-964D-4AACE8EAD8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729" y="404664"/>
            <a:ext cx="5024144" cy="4968552"/>
          </a:xfrm>
          <a:prstGeom prst="rect">
            <a:avLst/>
          </a:prstGeom>
        </p:spPr>
      </p:pic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502C799-21FF-D5AF-1F7D-CC86188B3EF6}"/>
              </a:ext>
            </a:extLst>
          </p:cNvPr>
          <p:cNvSpPr/>
          <p:nvPr/>
        </p:nvSpPr>
        <p:spPr>
          <a:xfrm>
            <a:off x="3771900" y="1127125"/>
            <a:ext cx="1416050" cy="1454150"/>
          </a:xfrm>
          <a:custGeom>
            <a:avLst/>
            <a:gdLst>
              <a:gd name="connsiteX0" fmla="*/ 0 w 1416050"/>
              <a:gd name="connsiteY0" fmla="*/ 698500 h 1454150"/>
              <a:gd name="connsiteX1" fmla="*/ 9525 w 1416050"/>
              <a:gd name="connsiteY1" fmla="*/ 1454150 h 1454150"/>
              <a:gd name="connsiteX2" fmla="*/ 1416050 w 1416050"/>
              <a:gd name="connsiteY2" fmla="*/ 1447800 h 1454150"/>
              <a:gd name="connsiteX3" fmla="*/ 1409700 w 1416050"/>
              <a:gd name="connsiteY3" fmla="*/ 212725 h 1454150"/>
              <a:gd name="connsiteX4" fmla="*/ 806450 w 1416050"/>
              <a:gd name="connsiteY4" fmla="*/ 212725 h 1454150"/>
              <a:gd name="connsiteX5" fmla="*/ 800100 w 1416050"/>
              <a:gd name="connsiteY5" fmla="*/ 3175 h 1454150"/>
              <a:gd name="connsiteX6" fmla="*/ 422275 w 1416050"/>
              <a:gd name="connsiteY6" fmla="*/ 0 h 1454150"/>
              <a:gd name="connsiteX7" fmla="*/ 415925 w 1416050"/>
              <a:gd name="connsiteY7" fmla="*/ 701675 h 1454150"/>
              <a:gd name="connsiteX8" fmla="*/ 0 w 1416050"/>
              <a:gd name="connsiteY8" fmla="*/ 698500 h 1454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16050" h="1454150">
                <a:moveTo>
                  <a:pt x="0" y="698500"/>
                </a:moveTo>
                <a:lnTo>
                  <a:pt x="9525" y="1454150"/>
                </a:lnTo>
                <a:lnTo>
                  <a:pt x="1416050" y="1447800"/>
                </a:lnTo>
                <a:cubicBezTo>
                  <a:pt x="1413933" y="1036108"/>
                  <a:pt x="1411817" y="624417"/>
                  <a:pt x="1409700" y="212725"/>
                </a:cubicBezTo>
                <a:lnTo>
                  <a:pt x="806450" y="212725"/>
                </a:lnTo>
                <a:lnTo>
                  <a:pt x="800100" y="3175"/>
                </a:lnTo>
                <a:lnTo>
                  <a:pt x="422275" y="0"/>
                </a:lnTo>
                <a:cubicBezTo>
                  <a:pt x="420158" y="233892"/>
                  <a:pt x="418042" y="467783"/>
                  <a:pt x="415925" y="701675"/>
                </a:cubicBezTo>
                <a:lnTo>
                  <a:pt x="0" y="698500"/>
                </a:lnTo>
                <a:close/>
              </a:path>
            </a:pathLst>
          </a:custGeom>
          <a:solidFill>
            <a:srgbClr val="B1B100">
              <a:alpha val="89804"/>
            </a:srgbClr>
          </a:solidFill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002232-2CB3-9A10-E860-AE12067DD7C6}"/>
              </a:ext>
            </a:extLst>
          </p:cNvPr>
          <p:cNvSpPr/>
          <p:nvPr/>
        </p:nvSpPr>
        <p:spPr>
          <a:xfrm>
            <a:off x="1811524" y="1877814"/>
            <a:ext cx="1728192" cy="2271266"/>
          </a:xfrm>
          <a:prstGeom prst="rect">
            <a:avLst/>
          </a:prstGeom>
          <a:solidFill>
            <a:srgbClr val="A20000">
              <a:alpha val="89804"/>
            </a:srgbClr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251B28-09CC-79DD-F766-D24D092D5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1" y="5239356"/>
            <a:ext cx="9532957" cy="1325563"/>
          </a:xfrm>
        </p:spPr>
        <p:txBody>
          <a:bodyPr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Functional Block Diagram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D45D73-8D38-D47D-B89C-0C36211329E5}"/>
              </a:ext>
            </a:extLst>
          </p:cNvPr>
          <p:cNvSpPr txBox="1"/>
          <p:nvPr/>
        </p:nvSpPr>
        <p:spPr>
          <a:xfrm>
            <a:off x="1811524" y="1877814"/>
            <a:ext cx="8564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NET-S </a:t>
            </a:r>
          </a:p>
          <a:p>
            <a:r>
              <a:rPr lang="en-US" sz="600">
                <a:solidFill>
                  <a:schemeClr val="bg1"/>
                </a:solidFill>
              </a:rPr>
              <a:t>Transient and ESD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FB3BA9-25EB-BBC3-18BA-0327DCA618FD}"/>
              </a:ext>
            </a:extLst>
          </p:cNvPr>
          <p:cNvSpPr/>
          <p:nvPr/>
        </p:nvSpPr>
        <p:spPr>
          <a:xfrm>
            <a:off x="1811524" y="548680"/>
            <a:ext cx="1296144" cy="1296144"/>
          </a:xfrm>
          <a:prstGeom prst="rect">
            <a:avLst/>
          </a:prstGeom>
          <a:solidFill>
            <a:srgbClr val="215F9A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9E8795-B014-1352-086C-8E61D84F33DF}"/>
              </a:ext>
            </a:extLst>
          </p:cNvPr>
          <p:cNvSpPr txBox="1"/>
          <p:nvPr/>
        </p:nvSpPr>
        <p:spPr>
          <a:xfrm>
            <a:off x="1775520" y="512676"/>
            <a:ext cx="7596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5v5 SMPS (VPP)</a:t>
            </a:r>
          </a:p>
          <a:p>
            <a:r>
              <a:rPr lang="en-US" sz="600">
                <a:solidFill>
                  <a:schemeClr val="bg1"/>
                </a:solidFill>
              </a:rPr>
              <a:t>DC-DC Converter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66F8213-87D5-9D50-EDC4-B5F116A72D5B}"/>
              </a:ext>
            </a:extLst>
          </p:cNvPr>
          <p:cNvSpPr/>
          <p:nvPr/>
        </p:nvSpPr>
        <p:spPr>
          <a:xfrm>
            <a:off x="3149241" y="1160748"/>
            <a:ext cx="1030745" cy="658228"/>
          </a:xfrm>
          <a:prstGeom prst="rect">
            <a:avLst/>
          </a:prstGeom>
          <a:solidFill>
            <a:srgbClr val="CC00CC">
              <a:alpha val="89804"/>
            </a:srgb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945C66-B60A-DFD7-E838-87B5C9AD0D5E}"/>
              </a:ext>
            </a:extLst>
          </p:cNvPr>
          <p:cNvSpPr txBox="1"/>
          <p:nvPr/>
        </p:nvSpPr>
        <p:spPr>
          <a:xfrm>
            <a:off x="3105435" y="1157734"/>
            <a:ext cx="10745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CAN bus </a:t>
            </a:r>
          </a:p>
          <a:p>
            <a:r>
              <a:rPr lang="en-US" sz="600">
                <a:solidFill>
                  <a:schemeClr val="bg1"/>
                </a:solidFill>
              </a:rPr>
              <a:t>Isolated CAN Transceiver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72175A3-76A4-9A46-F64F-C5D90349F934}"/>
              </a:ext>
            </a:extLst>
          </p:cNvPr>
          <p:cNvSpPr/>
          <p:nvPr/>
        </p:nvSpPr>
        <p:spPr>
          <a:xfrm>
            <a:off x="3155319" y="548680"/>
            <a:ext cx="1429706" cy="576064"/>
          </a:xfrm>
          <a:prstGeom prst="rect">
            <a:avLst/>
          </a:prstGeom>
          <a:solidFill>
            <a:srgbClr val="C04F15">
              <a:alpha val="89804"/>
            </a:srgb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A29775D-30A6-8164-BA05-89562732CA22}"/>
              </a:ext>
            </a:extLst>
          </p:cNvPr>
          <p:cNvSpPr txBox="1"/>
          <p:nvPr/>
        </p:nvSpPr>
        <p:spPr>
          <a:xfrm>
            <a:off x="3111513" y="509662"/>
            <a:ext cx="14297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Power Isolation (VPP : VSS)</a:t>
            </a:r>
          </a:p>
          <a:p>
            <a:r>
              <a:rPr lang="en-US" sz="600">
                <a:solidFill>
                  <a:schemeClr val="bg1"/>
                </a:solidFill>
              </a:rPr>
              <a:t>5 V DC Isolation Transformer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FEF4571-7199-B2B2-64E5-3185FEA5BB03}"/>
              </a:ext>
            </a:extLst>
          </p:cNvPr>
          <p:cNvSpPr/>
          <p:nvPr/>
        </p:nvSpPr>
        <p:spPr>
          <a:xfrm>
            <a:off x="4582791" y="545520"/>
            <a:ext cx="614265" cy="795248"/>
          </a:xfrm>
          <a:prstGeom prst="rect">
            <a:avLst/>
          </a:prstGeom>
          <a:solidFill>
            <a:srgbClr val="3B7D23">
              <a:alpha val="89804"/>
            </a:srgb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251F03-FC64-74A0-F5F3-655CCC886382}"/>
              </a:ext>
            </a:extLst>
          </p:cNvPr>
          <p:cNvSpPr txBox="1"/>
          <p:nvPr/>
        </p:nvSpPr>
        <p:spPr>
          <a:xfrm>
            <a:off x="4400882" y="2315285"/>
            <a:ext cx="8382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b="1">
                <a:solidFill>
                  <a:schemeClr val="bg1"/>
                </a:solidFill>
              </a:rPr>
              <a:t>5 V Domain (VSS)</a:t>
            </a:r>
          </a:p>
          <a:p>
            <a:pPr algn="r"/>
            <a:r>
              <a:rPr lang="en-US" sz="600">
                <a:solidFill>
                  <a:schemeClr val="bg1"/>
                </a:solidFill>
              </a:rPr>
              <a:t>Display and Buzzer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303C381-2336-253B-252B-F82CBF7FF64B}"/>
              </a:ext>
            </a:extLst>
          </p:cNvPr>
          <p:cNvSpPr/>
          <p:nvPr/>
        </p:nvSpPr>
        <p:spPr>
          <a:xfrm>
            <a:off x="5233503" y="2807310"/>
            <a:ext cx="1294545" cy="1737814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FB7F3F-5BF1-497A-48E4-0F3E965EFDDC}"/>
              </a:ext>
            </a:extLst>
          </p:cNvPr>
          <p:cNvSpPr txBox="1"/>
          <p:nvPr/>
        </p:nvSpPr>
        <p:spPr>
          <a:xfrm>
            <a:off x="5233503" y="2807310"/>
            <a:ext cx="10745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SeaTalk / NMEA 0183</a:t>
            </a:r>
          </a:p>
          <a:p>
            <a:r>
              <a:rPr lang="en-US" sz="600">
                <a:solidFill>
                  <a:schemeClr val="bg1"/>
                </a:solidFill>
              </a:rPr>
              <a:t>Isolated Serial Interface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BB42701-F1F8-40E1-1E0C-E2BBB6436A7A}"/>
              </a:ext>
            </a:extLst>
          </p:cNvPr>
          <p:cNvSpPr/>
          <p:nvPr/>
        </p:nvSpPr>
        <p:spPr>
          <a:xfrm>
            <a:off x="5197056" y="545520"/>
            <a:ext cx="1429705" cy="2019384"/>
          </a:xfrm>
          <a:prstGeom prst="rect">
            <a:avLst/>
          </a:prstGeom>
          <a:solidFill>
            <a:srgbClr val="D1D1D1">
              <a:alpha val="89804"/>
            </a:srgb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99EC7E2-013B-EABE-F8C3-7BBED21AE86E}"/>
              </a:ext>
            </a:extLst>
          </p:cNvPr>
          <p:cNvSpPr txBox="1"/>
          <p:nvPr/>
        </p:nvSpPr>
        <p:spPr>
          <a:xfrm>
            <a:off x="5308652" y="1207995"/>
            <a:ext cx="12193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b="1">
                <a:solidFill>
                  <a:schemeClr val="tx1">
                    <a:lumMod val="85000"/>
                    <a:lumOff val="15000"/>
                  </a:schemeClr>
                </a:solidFill>
              </a:rPr>
              <a:t>3.3 V Domain (VCC)</a:t>
            </a:r>
          </a:p>
          <a:p>
            <a:pPr algn="ctr"/>
            <a:r>
              <a:rPr lang="en-US" sz="600">
                <a:solidFill>
                  <a:schemeClr val="tx1">
                    <a:lumMod val="85000"/>
                    <a:lumOff val="15000"/>
                  </a:schemeClr>
                </a:solidFill>
              </a:rPr>
              <a:t>MCU and sensors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CAAE8E-ED3C-FAA1-F2DB-D616E450A2DF}"/>
              </a:ext>
            </a:extLst>
          </p:cNvPr>
          <p:cNvSpPr txBox="1"/>
          <p:nvPr/>
        </p:nvSpPr>
        <p:spPr>
          <a:xfrm>
            <a:off x="4506468" y="512022"/>
            <a:ext cx="7596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3v3 SMPS (VPP)</a:t>
            </a:r>
          </a:p>
          <a:p>
            <a:r>
              <a:rPr lang="en-US" sz="600">
                <a:solidFill>
                  <a:schemeClr val="bg1"/>
                </a:solidFill>
              </a:rPr>
              <a:t>DC-DC Converter</a:t>
            </a:r>
          </a:p>
        </p:txBody>
      </p:sp>
    </p:spTree>
    <p:extLst>
      <p:ext uri="{BB962C8B-B14F-4D97-AF65-F5344CB8AC3E}">
        <p14:creationId xmlns:p14="http://schemas.microsoft.com/office/powerpoint/2010/main" val="3598675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E37E-8C86-F5E5-0B83-5B9C5D42A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53F6315-E101-F542-ADAD-AF2A8B2A60B5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600E61-157A-019D-0181-26A8445C4D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729" y="404664"/>
            <a:ext cx="5024144" cy="49685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01D1CF-C2FF-ABD6-13F6-ACBD672DD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1" y="5239356"/>
            <a:ext cx="9532957" cy="1325563"/>
          </a:xfrm>
        </p:spPr>
        <p:txBody>
          <a:bodyPr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Isolation Domains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D1683D-5C5A-ADB2-A87B-C75F7E22DA90}"/>
              </a:ext>
            </a:extLst>
          </p:cNvPr>
          <p:cNvSpPr/>
          <p:nvPr/>
        </p:nvSpPr>
        <p:spPr>
          <a:xfrm>
            <a:off x="1811524" y="548680"/>
            <a:ext cx="1692188" cy="3528392"/>
          </a:xfrm>
          <a:prstGeom prst="rect">
            <a:avLst/>
          </a:prstGeom>
          <a:solidFill>
            <a:srgbClr val="A20000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14729A-7240-EDDB-2619-1AFF0AD01113}"/>
              </a:ext>
            </a:extLst>
          </p:cNvPr>
          <p:cNvSpPr txBox="1"/>
          <p:nvPr/>
        </p:nvSpPr>
        <p:spPr>
          <a:xfrm>
            <a:off x="1771127" y="728700"/>
            <a:ext cx="10125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>
                <a:solidFill>
                  <a:schemeClr val="bg1"/>
                </a:solidFill>
              </a:rPr>
              <a:t>CAN Domain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B306B46-087D-7AB3-CE15-CD7969033EEF}"/>
              </a:ext>
            </a:extLst>
          </p:cNvPr>
          <p:cNvSpPr/>
          <p:nvPr/>
        </p:nvSpPr>
        <p:spPr>
          <a:xfrm>
            <a:off x="5303911" y="2807310"/>
            <a:ext cx="1152129" cy="1665806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592937F-A08A-E0A9-C170-2179CCFA61FF}"/>
              </a:ext>
            </a:extLst>
          </p:cNvPr>
          <p:cNvSpPr/>
          <p:nvPr/>
        </p:nvSpPr>
        <p:spPr>
          <a:xfrm>
            <a:off x="3871988" y="584684"/>
            <a:ext cx="2584052" cy="1944216"/>
          </a:xfrm>
          <a:prstGeom prst="rect">
            <a:avLst/>
          </a:prstGeom>
          <a:solidFill>
            <a:srgbClr val="D1D1D1">
              <a:alpha val="89804"/>
            </a:srgb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FFEB827-922C-BF19-E371-85AE27290659}"/>
              </a:ext>
            </a:extLst>
          </p:cNvPr>
          <p:cNvSpPr txBox="1"/>
          <p:nvPr/>
        </p:nvSpPr>
        <p:spPr>
          <a:xfrm>
            <a:off x="5216301" y="1310571"/>
            <a:ext cx="140415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2">
                    <a:lumMod val="25000"/>
                  </a:schemeClr>
                </a:solidFill>
              </a:rPr>
              <a:t>DIGITAL Domain</a:t>
            </a:r>
            <a:endParaRPr lang="en-US" sz="90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CD5BE2-9F0E-9246-166F-EAA9624B988B}"/>
              </a:ext>
            </a:extLst>
          </p:cNvPr>
          <p:cNvSpPr txBox="1"/>
          <p:nvPr/>
        </p:nvSpPr>
        <p:spPr>
          <a:xfrm>
            <a:off x="5227184" y="2857070"/>
            <a:ext cx="13008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>
                <a:solidFill>
                  <a:schemeClr val="bg1"/>
                </a:solidFill>
              </a:rPr>
              <a:t>LEGACY INTERFACE Domain</a:t>
            </a:r>
          </a:p>
        </p:txBody>
      </p:sp>
    </p:spTree>
    <p:extLst>
      <p:ext uri="{BB962C8B-B14F-4D97-AF65-F5344CB8AC3E}">
        <p14:creationId xmlns:p14="http://schemas.microsoft.com/office/powerpoint/2010/main" val="33444872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982F5D8-22F6-9A24-75B7-9C3A510FBCF9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85245F-A629-F658-71CA-260A14D752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729" y="404664"/>
            <a:ext cx="5024144" cy="49685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AD87BF-7D66-DDCA-CA69-52E1091BF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2" y="5553236"/>
            <a:ext cx="3025552" cy="7200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Ground Planes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1DA1DF-1E5A-4765-6BD6-86C0A65F65A8}"/>
              </a:ext>
            </a:extLst>
          </p:cNvPr>
          <p:cNvSpPr/>
          <p:nvPr/>
        </p:nvSpPr>
        <p:spPr>
          <a:xfrm>
            <a:off x="1811524" y="548680"/>
            <a:ext cx="1296144" cy="1296144"/>
          </a:xfrm>
          <a:prstGeom prst="rect">
            <a:avLst/>
          </a:prstGeom>
          <a:solidFill>
            <a:srgbClr val="215F9A">
              <a:alpha val="89804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E6DECA-8DB3-5B4B-B0A3-070A8923A565}"/>
              </a:ext>
            </a:extLst>
          </p:cNvPr>
          <p:cNvSpPr txBox="1"/>
          <p:nvPr/>
        </p:nvSpPr>
        <p:spPr>
          <a:xfrm>
            <a:off x="1811524" y="584684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GNDSMPS</a:t>
            </a:r>
          </a:p>
          <a:p>
            <a:r>
              <a:rPr lang="en-US" sz="600">
                <a:solidFill>
                  <a:schemeClr val="bg1"/>
                </a:solidFill>
              </a:rPr>
              <a:t>DC-DC Converter Ground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4BD22A0-E621-03D4-9E6D-0F892FC6C1AB}"/>
              </a:ext>
            </a:extLst>
          </p:cNvPr>
          <p:cNvSpPr/>
          <p:nvPr/>
        </p:nvSpPr>
        <p:spPr>
          <a:xfrm>
            <a:off x="1866900" y="550616"/>
            <a:ext cx="1685925" cy="3602283"/>
          </a:xfrm>
          <a:custGeom>
            <a:avLst/>
            <a:gdLst>
              <a:gd name="connsiteX0" fmla="*/ 1276350 w 1685925"/>
              <a:gd name="connsiteY0" fmla="*/ 0 h 3600450"/>
              <a:gd name="connsiteX1" fmla="*/ 1271588 w 1685925"/>
              <a:gd name="connsiteY1" fmla="*/ 1385888 h 3600450"/>
              <a:gd name="connsiteX2" fmla="*/ 4763 w 1685925"/>
              <a:gd name="connsiteY2" fmla="*/ 1371600 h 3600450"/>
              <a:gd name="connsiteX3" fmla="*/ 0 w 1685925"/>
              <a:gd name="connsiteY3" fmla="*/ 3600450 h 3600450"/>
              <a:gd name="connsiteX4" fmla="*/ 600075 w 1685925"/>
              <a:gd name="connsiteY4" fmla="*/ 3586163 h 3600450"/>
              <a:gd name="connsiteX5" fmla="*/ 619125 w 1685925"/>
              <a:gd name="connsiteY5" fmla="*/ 2905125 h 3600450"/>
              <a:gd name="connsiteX6" fmla="*/ 442913 w 1685925"/>
              <a:gd name="connsiteY6" fmla="*/ 2900363 h 3600450"/>
              <a:gd name="connsiteX7" fmla="*/ 442913 w 1685925"/>
              <a:gd name="connsiteY7" fmla="*/ 2505075 h 3600450"/>
              <a:gd name="connsiteX8" fmla="*/ 1171575 w 1685925"/>
              <a:gd name="connsiteY8" fmla="*/ 2509838 h 3600450"/>
              <a:gd name="connsiteX9" fmla="*/ 1181100 w 1685925"/>
              <a:gd name="connsiteY9" fmla="*/ 1619250 h 3600450"/>
              <a:gd name="connsiteX10" fmla="*/ 1681163 w 1685925"/>
              <a:gd name="connsiteY10" fmla="*/ 1614488 h 3600450"/>
              <a:gd name="connsiteX11" fmla="*/ 1685925 w 1685925"/>
              <a:gd name="connsiteY11" fmla="*/ 19050 h 3600450"/>
              <a:gd name="connsiteX12" fmla="*/ 1276350 w 1685925"/>
              <a:gd name="connsiteY12" fmla="*/ 0 h 3600450"/>
              <a:gd name="connsiteX0" fmla="*/ 1276350 w 1685925"/>
              <a:gd name="connsiteY0" fmla="*/ 1833 h 3602283"/>
              <a:gd name="connsiteX1" fmla="*/ 1271588 w 1685925"/>
              <a:gd name="connsiteY1" fmla="*/ 1387721 h 3602283"/>
              <a:gd name="connsiteX2" fmla="*/ 4763 w 1685925"/>
              <a:gd name="connsiteY2" fmla="*/ 1373433 h 3602283"/>
              <a:gd name="connsiteX3" fmla="*/ 0 w 1685925"/>
              <a:gd name="connsiteY3" fmla="*/ 3602283 h 3602283"/>
              <a:gd name="connsiteX4" fmla="*/ 600075 w 1685925"/>
              <a:gd name="connsiteY4" fmla="*/ 3587996 h 3602283"/>
              <a:gd name="connsiteX5" fmla="*/ 619125 w 1685925"/>
              <a:gd name="connsiteY5" fmla="*/ 2906958 h 3602283"/>
              <a:gd name="connsiteX6" fmla="*/ 442913 w 1685925"/>
              <a:gd name="connsiteY6" fmla="*/ 2902196 h 3602283"/>
              <a:gd name="connsiteX7" fmla="*/ 442913 w 1685925"/>
              <a:gd name="connsiteY7" fmla="*/ 2506908 h 3602283"/>
              <a:gd name="connsiteX8" fmla="*/ 1171575 w 1685925"/>
              <a:gd name="connsiteY8" fmla="*/ 2511671 h 3602283"/>
              <a:gd name="connsiteX9" fmla="*/ 1181100 w 1685925"/>
              <a:gd name="connsiteY9" fmla="*/ 1621083 h 3602283"/>
              <a:gd name="connsiteX10" fmla="*/ 1681163 w 1685925"/>
              <a:gd name="connsiteY10" fmla="*/ 1616321 h 3602283"/>
              <a:gd name="connsiteX11" fmla="*/ 1685925 w 1685925"/>
              <a:gd name="connsiteY11" fmla="*/ 1833 h 3602283"/>
              <a:gd name="connsiteX12" fmla="*/ 1276350 w 1685925"/>
              <a:gd name="connsiteY12" fmla="*/ 1833 h 3602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5925" h="3602283">
                <a:moveTo>
                  <a:pt x="1276350" y="1833"/>
                </a:moveTo>
                <a:cubicBezTo>
                  <a:pt x="1274763" y="463796"/>
                  <a:pt x="1273175" y="925758"/>
                  <a:pt x="1271588" y="1387721"/>
                </a:cubicBezTo>
                <a:lnTo>
                  <a:pt x="4763" y="1373433"/>
                </a:lnTo>
                <a:cubicBezTo>
                  <a:pt x="3175" y="2116383"/>
                  <a:pt x="1588" y="2859333"/>
                  <a:pt x="0" y="3602283"/>
                </a:cubicBezTo>
                <a:lnTo>
                  <a:pt x="600075" y="3587996"/>
                </a:lnTo>
                <a:lnTo>
                  <a:pt x="619125" y="2906958"/>
                </a:lnTo>
                <a:lnTo>
                  <a:pt x="442913" y="2902196"/>
                </a:lnTo>
                <a:lnTo>
                  <a:pt x="442913" y="2506908"/>
                </a:lnTo>
                <a:lnTo>
                  <a:pt x="1171575" y="2511671"/>
                </a:lnTo>
                <a:lnTo>
                  <a:pt x="1181100" y="1621083"/>
                </a:lnTo>
                <a:lnTo>
                  <a:pt x="1681163" y="1616321"/>
                </a:lnTo>
                <a:cubicBezTo>
                  <a:pt x="1682750" y="1084508"/>
                  <a:pt x="1684338" y="533646"/>
                  <a:pt x="1685925" y="1833"/>
                </a:cubicBezTo>
                <a:cubicBezTo>
                  <a:pt x="1549400" y="-4517"/>
                  <a:pt x="1412875" y="8183"/>
                  <a:pt x="1276350" y="1833"/>
                </a:cubicBezTo>
                <a:close/>
              </a:path>
            </a:pathLst>
          </a:custGeom>
          <a:solidFill>
            <a:srgbClr val="CC00CC">
              <a:alpha val="89804"/>
            </a:srgb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E444D3-78E4-9085-BB6D-F919381FB8B8}"/>
              </a:ext>
            </a:extLst>
          </p:cNvPr>
          <p:cNvSpPr txBox="1"/>
          <p:nvPr/>
        </p:nvSpPr>
        <p:spPr>
          <a:xfrm>
            <a:off x="1811524" y="1920896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GNDC</a:t>
            </a:r>
          </a:p>
          <a:p>
            <a:r>
              <a:rPr lang="en-US" sz="600">
                <a:solidFill>
                  <a:schemeClr val="bg1"/>
                </a:solidFill>
              </a:rPr>
              <a:t>Filtered CAN Ground Plane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EE3C5D8-287F-D642-706A-0DE9BE6A2D6D}"/>
              </a:ext>
            </a:extLst>
          </p:cNvPr>
          <p:cNvSpPr/>
          <p:nvPr/>
        </p:nvSpPr>
        <p:spPr>
          <a:xfrm>
            <a:off x="2324100" y="2190750"/>
            <a:ext cx="1233488" cy="1943100"/>
          </a:xfrm>
          <a:custGeom>
            <a:avLst/>
            <a:gdLst>
              <a:gd name="connsiteX0" fmla="*/ 1233488 w 1233488"/>
              <a:gd name="connsiteY0" fmla="*/ 0 h 1943100"/>
              <a:gd name="connsiteX1" fmla="*/ 738188 w 1233488"/>
              <a:gd name="connsiteY1" fmla="*/ 9525 h 1943100"/>
              <a:gd name="connsiteX2" fmla="*/ 723900 w 1233488"/>
              <a:gd name="connsiteY2" fmla="*/ 895350 h 1943100"/>
              <a:gd name="connsiteX3" fmla="*/ 0 w 1233488"/>
              <a:gd name="connsiteY3" fmla="*/ 900113 h 1943100"/>
              <a:gd name="connsiteX4" fmla="*/ 0 w 1233488"/>
              <a:gd name="connsiteY4" fmla="*/ 1252538 h 1943100"/>
              <a:gd name="connsiteX5" fmla="*/ 171450 w 1233488"/>
              <a:gd name="connsiteY5" fmla="*/ 1262063 h 1943100"/>
              <a:gd name="connsiteX6" fmla="*/ 161925 w 1233488"/>
              <a:gd name="connsiteY6" fmla="*/ 1943100 h 1943100"/>
              <a:gd name="connsiteX7" fmla="*/ 1223963 w 1233488"/>
              <a:gd name="connsiteY7" fmla="*/ 1943100 h 1943100"/>
              <a:gd name="connsiteX8" fmla="*/ 1233488 w 1233488"/>
              <a:gd name="connsiteY8" fmla="*/ 0 h 194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33488" h="1943100">
                <a:moveTo>
                  <a:pt x="1233488" y="0"/>
                </a:moveTo>
                <a:lnTo>
                  <a:pt x="738188" y="9525"/>
                </a:lnTo>
                <a:lnTo>
                  <a:pt x="723900" y="895350"/>
                </a:lnTo>
                <a:lnTo>
                  <a:pt x="0" y="900113"/>
                </a:lnTo>
                <a:lnTo>
                  <a:pt x="0" y="1252538"/>
                </a:lnTo>
                <a:lnTo>
                  <a:pt x="171450" y="1262063"/>
                </a:lnTo>
                <a:lnTo>
                  <a:pt x="161925" y="1943100"/>
                </a:lnTo>
                <a:lnTo>
                  <a:pt x="1223963" y="1943100"/>
                </a:lnTo>
                <a:lnTo>
                  <a:pt x="1233488" y="0"/>
                </a:lnTo>
                <a:close/>
              </a:path>
            </a:pathLst>
          </a:custGeom>
          <a:solidFill>
            <a:srgbClr val="A20000">
              <a:alpha val="89804"/>
            </a:srgbClr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7C5643-2E96-E19A-332D-C0DEEAE84FA6}"/>
              </a:ext>
            </a:extLst>
          </p:cNvPr>
          <p:cNvSpPr txBox="1"/>
          <p:nvPr/>
        </p:nvSpPr>
        <p:spPr>
          <a:xfrm>
            <a:off x="2459595" y="3862369"/>
            <a:ext cx="11486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b="1">
                <a:solidFill>
                  <a:schemeClr val="bg1"/>
                </a:solidFill>
              </a:rPr>
              <a:t>NET-C</a:t>
            </a:r>
          </a:p>
          <a:p>
            <a:pPr algn="r"/>
            <a:r>
              <a:rPr lang="en-US" sz="600">
                <a:solidFill>
                  <a:schemeClr val="bg1"/>
                </a:solidFill>
              </a:rPr>
              <a:t>NMEA 2000 Ground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B9D72E-6C32-13B4-9E33-4971CDA6301B}"/>
              </a:ext>
            </a:extLst>
          </p:cNvPr>
          <p:cNvSpPr/>
          <p:nvPr/>
        </p:nvSpPr>
        <p:spPr>
          <a:xfrm>
            <a:off x="3828964" y="548680"/>
            <a:ext cx="2699084" cy="2052228"/>
          </a:xfrm>
          <a:prstGeom prst="rect">
            <a:avLst/>
          </a:prstGeom>
          <a:solidFill>
            <a:srgbClr val="D1D1D1">
              <a:alpha val="89804"/>
            </a:srgb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76611E-9414-A7D1-466D-DAE4BC7FC5CF}"/>
              </a:ext>
            </a:extLst>
          </p:cNvPr>
          <p:cNvSpPr txBox="1"/>
          <p:nvPr/>
        </p:nvSpPr>
        <p:spPr>
          <a:xfrm>
            <a:off x="3824201" y="584683"/>
            <a:ext cx="12193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tx1">
                    <a:lumMod val="85000"/>
                    <a:lumOff val="15000"/>
                  </a:schemeClr>
                </a:solidFill>
              </a:rPr>
              <a:t>GNDREF</a:t>
            </a:r>
          </a:p>
          <a:p>
            <a:r>
              <a:rPr lang="en-US" sz="600">
                <a:solidFill>
                  <a:schemeClr val="tx1">
                    <a:lumMod val="85000"/>
                    <a:lumOff val="15000"/>
                  </a:schemeClr>
                </a:solidFill>
              </a:rPr>
              <a:t>Digital Domain Ground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0D9B432-F872-8C02-EA3C-76DE230CEA18}"/>
              </a:ext>
            </a:extLst>
          </p:cNvPr>
          <p:cNvSpPr/>
          <p:nvPr/>
        </p:nvSpPr>
        <p:spPr>
          <a:xfrm>
            <a:off x="5233503" y="2743388"/>
            <a:ext cx="1294545" cy="1801736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C9ACC4-8751-6DCA-5232-3BF197F2CB9C}"/>
              </a:ext>
            </a:extLst>
          </p:cNvPr>
          <p:cNvSpPr txBox="1"/>
          <p:nvPr/>
        </p:nvSpPr>
        <p:spPr>
          <a:xfrm>
            <a:off x="5233503" y="2743388"/>
            <a:ext cx="12334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GNDST</a:t>
            </a:r>
          </a:p>
          <a:p>
            <a:r>
              <a:rPr lang="en-US" sz="600">
                <a:solidFill>
                  <a:schemeClr val="bg1"/>
                </a:solidFill>
              </a:rPr>
              <a:t>SeaTalk / NMEA 0183 Ground</a:t>
            </a:r>
          </a:p>
        </p:txBody>
      </p:sp>
    </p:spTree>
    <p:extLst>
      <p:ext uri="{BB962C8B-B14F-4D97-AF65-F5344CB8AC3E}">
        <p14:creationId xmlns:p14="http://schemas.microsoft.com/office/powerpoint/2010/main" val="40285410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C4723-7A13-7B8A-53B8-7F9A8F75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B0E54D8-B5EE-8FBC-1209-EA13E0DF5893}"/>
              </a:ext>
            </a:extLst>
          </p:cNvPr>
          <p:cNvSpPr/>
          <p:nvPr/>
        </p:nvSpPr>
        <p:spPr>
          <a:xfrm>
            <a:off x="1235460" y="152636"/>
            <a:ext cx="5868652" cy="612068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D864FAA-C5C7-BFF4-C546-2903D5866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8137" y="412549"/>
            <a:ext cx="4967408" cy="49953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6FE6C64-0D55-ED98-2AE9-954AC3885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2" y="5553236"/>
            <a:ext cx="3025552" cy="7200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Thermal Management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164CAF-0975-F6E9-6FBD-96DDE95D00C8}"/>
              </a:ext>
            </a:extLst>
          </p:cNvPr>
          <p:cNvSpPr/>
          <p:nvPr/>
        </p:nvSpPr>
        <p:spPr>
          <a:xfrm>
            <a:off x="4896941" y="3255179"/>
            <a:ext cx="947031" cy="821893"/>
          </a:xfrm>
          <a:prstGeom prst="rect">
            <a:avLst/>
          </a:prstGeom>
          <a:solidFill>
            <a:srgbClr val="CC00CC">
              <a:alpha val="89804"/>
            </a:srgb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84FA08-0BBF-FF34-CB76-AEB745E1194C}"/>
              </a:ext>
            </a:extLst>
          </p:cNvPr>
          <p:cNvSpPr txBox="1"/>
          <p:nvPr/>
        </p:nvSpPr>
        <p:spPr>
          <a:xfrm>
            <a:off x="4896941" y="3248033"/>
            <a:ext cx="94703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SM8S36CA TVS </a:t>
            </a:r>
          </a:p>
          <a:p>
            <a:pPr algn="ctr"/>
            <a:r>
              <a:rPr lang="en-US" sz="900" b="1">
                <a:solidFill>
                  <a:schemeClr val="bg1"/>
                </a:solidFill>
              </a:rPr>
              <a:t>(6.6kW)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73E15C-6DB6-3C3D-4323-7251CFA75CEB}"/>
              </a:ext>
            </a:extLst>
          </p:cNvPr>
          <p:cNvSpPr/>
          <p:nvPr/>
        </p:nvSpPr>
        <p:spPr>
          <a:xfrm>
            <a:off x="5390273" y="969970"/>
            <a:ext cx="561712" cy="610495"/>
          </a:xfrm>
          <a:prstGeom prst="rect">
            <a:avLst/>
          </a:prstGeom>
          <a:solidFill>
            <a:srgbClr val="11838F">
              <a:alpha val="89804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086A15-ACDB-C69D-861D-AB58F218DFC8}"/>
              </a:ext>
            </a:extLst>
          </p:cNvPr>
          <p:cNvSpPr txBox="1"/>
          <p:nvPr/>
        </p:nvSpPr>
        <p:spPr>
          <a:xfrm>
            <a:off x="5390273" y="1016137"/>
            <a:ext cx="561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5.5V SMPS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E71630-A6D6-364C-B2B0-1CE7CD4BA086}"/>
              </a:ext>
            </a:extLst>
          </p:cNvPr>
          <p:cNvSpPr/>
          <p:nvPr/>
        </p:nvSpPr>
        <p:spPr>
          <a:xfrm>
            <a:off x="2207568" y="1088740"/>
            <a:ext cx="648072" cy="540060"/>
          </a:xfrm>
          <a:prstGeom prst="rect">
            <a:avLst/>
          </a:prstGeom>
          <a:solidFill>
            <a:srgbClr val="A20000">
              <a:alpha val="89804"/>
            </a:srgbClr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2832FC-9CA4-9832-6BE9-B8B36C70CE1B}"/>
              </a:ext>
            </a:extLst>
          </p:cNvPr>
          <p:cNvSpPr txBox="1"/>
          <p:nvPr/>
        </p:nvSpPr>
        <p:spPr>
          <a:xfrm>
            <a:off x="2207568" y="1070885"/>
            <a:ext cx="6480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ESP-32</a:t>
            </a:r>
            <a:endParaRPr lang="en-US" sz="60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321101-7437-5394-E6CA-E16F26B3022D}"/>
              </a:ext>
            </a:extLst>
          </p:cNvPr>
          <p:cNvSpPr/>
          <p:nvPr/>
        </p:nvSpPr>
        <p:spPr>
          <a:xfrm>
            <a:off x="3206104" y="692697"/>
            <a:ext cx="561712" cy="666074"/>
          </a:xfrm>
          <a:prstGeom prst="rect">
            <a:avLst/>
          </a:prstGeom>
          <a:solidFill>
            <a:srgbClr val="009600">
              <a:alpha val="89804"/>
            </a:srgbClr>
          </a:solidFill>
          <a:ln w="19050">
            <a:solidFill>
              <a:srgbClr val="009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E0FBF2-6B79-342A-BB9D-E533DB8E5E63}"/>
              </a:ext>
            </a:extLst>
          </p:cNvPr>
          <p:cNvSpPr txBox="1"/>
          <p:nvPr/>
        </p:nvSpPr>
        <p:spPr>
          <a:xfrm>
            <a:off x="3205446" y="737389"/>
            <a:ext cx="561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3.3V SMPS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D35CB1-84CD-31D4-B1E7-DC65979B6B5B}"/>
              </a:ext>
            </a:extLst>
          </p:cNvPr>
          <p:cNvSpPr/>
          <p:nvPr/>
        </p:nvSpPr>
        <p:spPr>
          <a:xfrm>
            <a:off x="3695903" y="1447089"/>
            <a:ext cx="348622" cy="369332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0630F70-AACA-AACB-F284-7B85067F26BC}"/>
              </a:ext>
            </a:extLst>
          </p:cNvPr>
          <p:cNvSpPr txBox="1"/>
          <p:nvPr/>
        </p:nvSpPr>
        <p:spPr>
          <a:xfrm>
            <a:off x="3390979" y="1816421"/>
            <a:ext cx="958470" cy="369332"/>
          </a:xfrm>
          <a:prstGeom prst="rect">
            <a:avLst/>
          </a:prstGeom>
          <a:solidFill>
            <a:srgbClr val="D9D9D9">
              <a:alpha val="2902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TEMPERATURE SENSOR</a:t>
            </a:r>
            <a:endParaRPr lang="en-US" sz="9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4798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5F4EF"/>
        </a:solidFill>
        <a:ln w="19050">
          <a:solidFill>
            <a:srgbClr val="840000"/>
          </a:solidFill>
        </a:ln>
      </a:spPr>
      <a:bodyPr rtlCol="0" anchor="ctr"/>
      <a:lstStyle>
        <a:defPPr algn="ctr">
          <a:defRPr smtClean="0">
            <a:solidFill>
              <a:schemeClr val="tx1">
                <a:lumMod val="75000"/>
                <a:lumOff val="25000"/>
              </a:schemeClr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009600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761</TotalTime>
  <Words>138</Words>
  <Application>Microsoft Office PowerPoint</Application>
  <PresentationFormat>Widescreen</PresentationFormat>
  <Paragraphs>50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Eras Demi ITC</vt:lpstr>
      <vt:lpstr>Office Theme</vt:lpstr>
      <vt:lpstr>PowerPoint Presentation</vt:lpstr>
      <vt:lpstr>MDD400 Functional Block Diagram</vt:lpstr>
      <vt:lpstr>MDD400 Isolation Domains</vt:lpstr>
      <vt:lpstr>MDD400 Ground Planes</vt:lpstr>
      <vt:lpstr>Thermal Management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Gerhard Malan</dc:creator>
  <cp:lastModifiedBy>Gerhard Malan</cp:lastModifiedBy>
  <cp:revision>13</cp:revision>
  <dcterms:created xsi:type="dcterms:W3CDTF">2025-07-22T00:51:10Z</dcterms:created>
  <dcterms:modified xsi:type="dcterms:W3CDTF">2025-07-25T05:57:22Z</dcterms:modified>
</cp:coreProperties>
</file>