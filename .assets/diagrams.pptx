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3" r:id="rId3"/>
    <p:sldId id="260" r:id="rId4"/>
    <p:sldId id="257" r:id="rId5"/>
    <p:sldId id="258" r:id="rId6"/>
    <p:sldId id="261" r:id="rId7"/>
    <p:sldId id="259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4EF"/>
    <a:srgbClr val="FFFFFF"/>
    <a:srgbClr val="CC00CC"/>
    <a:srgbClr val="11838F"/>
    <a:srgbClr val="009600"/>
    <a:srgbClr val="A20000"/>
    <a:srgbClr val="D1D1D1"/>
    <a:srgbClr val="3B7D23"/>
    <a:srgbClr val="C04F15"/>
    <a:srgbClr val="B1B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>
      <p:cViewPr>
        <p:scale>
          <a:sx n="150" d="100"/>
          <a:sy n="150" d="100"/>
        </p:scale>
        <p:origin x="10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09B85E-FD1D-4C87-B36A-F5C287A24482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D017A1-7FA2-4FB5-A9B9-704691091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265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D017A1-7FA2-4FB5-A9B9-704691091C1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93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D017A1-7FA2-4FB5-A9B9-704691091C1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91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A4FE8-0252-A54E-EB18-5C1C37D21C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E8130C-92C7-8299-5BAC-C9B0101C84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719DC-0BF4-08A7-0FDA-4BFBF979C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30635-7F4C-458C-AB0B-9951B311FD2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9B836-B974-7CCE-8FC1-E811A5256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26088-A9F1-E0E0-B5FD-22AD18C88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7848-2F07-4389-8063-55FF6B0D1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203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FE4D7-CEF8-C606-6677-567B3F6DF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A0B72-8C62-481F-F083-96964D014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163E7-4D94-E059-F841-2375FEC2E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30635-7F4C-458C-AB0B-9951B311FD2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CB0E5-99A1-AFB6-4B4C-000DAAD43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B19EC-67AF-B7AA-D6E0-2DAE626BB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7848-2F07-4389-8063-55FF6B0D1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30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318CB-27A1-23FC-7FDE-CDFFA404A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D38E94-DC55-0B4C-40C1-E5D91D674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81198-4C31-2525-B8BD-E6C8AC75B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30635-7F4C-458C-AB0B-9951B311FD2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93324-518C-0AB3-8821-949BBAA3D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5E570-5F69-51DD-3596-08E3ACD4F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7848-2F07-4389-8063-55FF6B0D1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761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61CD9-2276-DF6B-D760-05F69A0E8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746AF-8B00-5ED1-5E63-5B5400444D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CF7A97-34C0-D93D-3C2A-5A8B1B7D61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AEADE-29AD-E334-5059-FD05EA9F0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30635-7F4C-458C-AB0B-9951B311FD2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D4973-2E37-D72B-0629-301FD79BD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8AF56-3C78-01E9-EC3D-F599EF0C3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7848-2F07-4389-8063-55FF6B0D1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513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79A02-A76B-669D-B6BC-E949DDE73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E9EE8-43E6-4AED-27EA-09542909C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F0BC1-DD7F-CE4D-02BD-54EC90497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CD3D30-3D11-308D-F2E7-CE1BC85C38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3DFD4-9A97-2F49-EA8E-429783F383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901019-F4BB-FF24-0936-C30E1CEF8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30635-7F4C-458C-AB0B-9951B311FD2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F78378-DF6D-6E8C-08A7-566347ECC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7C8CF9-A38D-36DC-CD0B-CDBB794AE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7848-2F07-4389-8063-55FF6B0D1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33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C5231-D1CC-AF1E-7157-3185F4D02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4627B7-2250-4977-6FFD-BE2D0B036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30635-7F4C-458C-AB0B-9951B311FD2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C5F874-D7E7-5B32-4EB5-F35015939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A25BEB-95D8-E920-0930-E22FBA969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7848-2F07-4389-8063-55FF6B0D1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639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E41AEA-32D8-8BF1-9998-2644481CE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30635-7F4C-458C-AB0B-9951B311FD2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B76242-4088-D516-E685-8AE01E0AC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D8BCA-46CD-DC68-13DE-F23D532E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7848-2F07-4389-8063-55FF6B0D1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547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4B67F-2898-7843-0057-671D03046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0F788-1FB0-F92E-FEB5-16CFCAB2F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442066-B47B-F969-FA65-1BD935B98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3B2E4A-5C6F-5EAC-EA6A-9ED528411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30635-7F4C-458C-AB0B-9951B311FD2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C31B95-6179-7443-B38E-3A15B2015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4BD1CB-B6D2-C139-601F-ECE1E6721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7848-2F07-4389-8063-55FF6B0D1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67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F1218-5BDF-7A40-9101-F35B00771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8FA99B-41AD-4AB7-2ACD-AB1F536452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F685DC-59A4-6F08-D868-8F93A0EA31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8A1A0-29BF-5432-9599-7C6D4FC22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30635-7F4C-458C-AB0B-9951B311FD2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D96D81-2CB5-676A-39A4-300FEA8F9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AF3BE4-C505-4FC6-2258-A1224CDBF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7848-2F07-4389-8063-55FF6B0D1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213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78E4B-8875-E10A-191C-0811ED8A7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92A49A-0086-88CF-5ADC-CE04AAC05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41724-D660-1BC9-2223-5966A68C3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30635-7F4C-458C-AB0B-9951B311FD2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15B3C-89FE-A310-5B9E-04FC1534D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1045F-5A5F-213F-F87A-5A5C04E2A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7848-2F07-4389-8063-55FF6B0D1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5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014363-762A-F91D-3FBF-10D6C258B5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E23165-8D37-6419-58C9-DEF4177BF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FAEE8-71DE-FB6A-E66E-3A7B7FD23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30635-7F4C-458C-AB0B-9951B311FD2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5BDFB-A90F-2719-4499-80F13BA75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35A81-0A9B-309F-6DD4-ED2833A7C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7848-2F07-4389-8063-55FF6B0D1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735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4C260C-4644-E6FE-D921-7FA720938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2AFEA-D12F-1366-7B0A-104276123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62921-D47D-FB78-0AF8-DDBE2EC1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C30635-7F4C-458C-AB0B-9951B311FD2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F6546-8217-3ADC-AD77-4D4C1CA114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52A7C-C07C-D1DF-A8A1-BB057E72E3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107848-2F07-4389-8063-55FF6B0D1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046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1DBC841-0216-A3CC-BD02-716D788C484D}"/>
              </a:ext>
            </a:extLst>
          </p:cNvPr>
          <p:cNvSpPr/>
          <p:nvPr/>
        </p:nvSpPr>
        <p:spPr>
          <a:xfrm>
            <a:off x="2570002" y="1682844"/>
            <a:ext cx="1403324" cy="2306170"/>
          </a:xfrm>
          <a:prstGeom prst="rect">
            <a:avLst/>
          </a:prstGeom>
          <a:solidFill>
            <a:srgbClr val="F5F4EF"/>
          </a:solidFill>
          <a:ln w="19050">
            <a:solidFill>
              <a:srgbClr val="8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3D8887"/>
                </a:solidFill>
              </a:rPr>
              <a:t>MCU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9C6447-3D85-8A2D-17CA-6584151B7CFF}"/>
              </a:ext>
            </a:extLst>
          </p:cNvPr>
          <p:cNvSpPr/>
          <p:nvPr/>
        </p:nvSpPr>
        <p:spPr>
          <a:xfrm>
            <a:off x="4920996" y="1682844"/>
            <a:ext cx="979741" cy="542365"/>
          </a:xfrm>
          <a:prstGeom prst="rect">
            <a:avLst/>
          </a:prstGeom>
          <a:solidFill>
            <a:srgbClr val="F5F4EF"/>
          </a:solidFill>
          <a:ln w="19050">
            <a:solidFill>
              <a:srgbClr val="8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3D8887"/>
                </a:solidFill>
              </a:rPr>
              <a:t>EN </a:t>
            </a:r>
            <a:r>
              <a:rPr lang="en-US" sz="1400">
                <a:solidFill>
                  <a:srgbClr val="3D8887"/>
                </a:solidFill>
              </a:rPr>
              <a:t>Isolator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1369AA-233E-B0A0-802A-43BE911BA561}"/>
              </a:ext>
            </a:extLst>
          </p:cNvPr>
          <p:cNvSpPr/>
          <p:nvPr/>
        </p:nvSpPr>
        <p:spPr>
          <a:xfrm>
            <a:off x="4920996" y="2314854"/>
            <a:ext cx="979741" cy="542365"/>
          </a:xfrm>
          <a:prstGeom prst="rect">
            <a:avLst/>
          </a:prstGeom>
          <a:solidFill>
            <a:srgbClr val="F5F4EF"/>
          </a:solidFill>
          <a:ln w="19050">
            <a:solidFill>
              <a:srgbClr val="8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3D8887"/>
                </a:solidFill>
              </a:rPr>
              <a:t>TX </a:t>
            </a:r>
            <a:r>
              <a:rPr lang="en-US" sz="1400">
                <a:solidFill>
                  <a:srgbClr val="3D8887"/>
                </a:solidFill>
              </a:rPr>
              <a:t>Isolator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7EE796-F690-137D-81F1-FB7105770A08}"/>
              </a:ext>
            </a:extLst>
          </p:cNvPr>
          <p:cNvSpPr/>
          <p:nvPr/>
        </p:nvSpPr>
        <p:spPr>
          <a:xfrm>
            <a:off x="4920996" y="3446649"/>
            <a:ext cx="979741" cy="542365"/>
          </a:xfrm>
          <a:prstGeom prst="rect">
            <a:avLst/>
          </a:prstGeom>
          <a:solidFill>
            <a:srgbClr val="F5F4EF"/>
          </a:solidFill>
          <a:ln w="19050">
            <a:solidFill>
              <a:srgbClr val="8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3D8887"/>
                </a:solidFill>
              </a:rPr>
              <a:t>RX </a:t>
            </a:r>
            <a:r>
              <a:rPr lang="en-US" sz="1400">
                <a:solidFill>
                  <a:srgbClr val="3D8887"/>
                </a:solidFill>
              </a:rPr>
              <a:t>Isolator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C1766AC-47D0-9156-0084-1CDD2793929C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3986772" y="1954026"/>
            <a:ext cx="934224" cy="1"/>
          </a:xfrm>
          <a:prstGeom prst="line">
            <a:avLst/>
          </a:prstGeom>
          <a:ln>
            <a:solidFill>
              <a:srgbClr val="009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F3A6A4-3F92-328A-2B1A-63E95E614832}"/>
              </a:ext>
            </a:extLst>
          </p:cNvPr>
          <p:cNvCxnSpPr/>
          <p:nvPr/>
        </p:nvCxnSpPr>
        <p:spPr>
          <a:xfrm flipH="1" flipV="1">
            <a:off x="3973326" y="2586035"/>
            <a:ext cx="934224" cy="1"/>
          </a:xfrm>
          <a:prstGeom prst="line">
            <a:avLst/>
          </a:prstGeom>
          <a:ln>
            <a:solidFill>
              <a:srgbClr val="009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281C8EB-DC9D-D6E7-FC1C-BCEBD1DDB673}"/>
              </a:ext>
            </a:extLst>
          </p:cNvPr>
          <p:cNvCxnSpPr/>
          <p:nvPr/>
        </p:nvCxnSpPr>
        <p:spPr>
          <a:xfrm flipH="1" flipV="1">
            <a:off x="3986772" y="3717831"/>
            <a:ext cx="934224" cy="1"/>
          </a:xfrm>
          <a:prstGeom prst="line">
            <a:avLst/>
          </a:prstGeom>
          <a:ln>
            <a:solidFill>
              <a:srgbClr val="009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7635CCE-5FC9-1331-F958-786B5BFD6207}"/>
              </a:ext>
            </a:extLst>
          </p:cNvPr>
          <p:cNvSpPr txBox="1"/>
          <p:nvPr/>
        </p:nvSpPr>
        <p:spPr>
          <a:xfrm>
            <a:off x="4146928" y="1742025"/>
            <a:ext cx="5870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>
                <a:solidFill>
                  <a:srgbClr val="3D8887"/>
                </a:solidFill>
              </a:rPr>
              <a:t>ST_EN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9D4B4E-A3D6-E455-3588-A7502EC71667}"/>
              </a:ext>
            </a:extLst>
          </p:cNvPr>
          <p:cNvSpPr txBox="1"/>
          <p:nvPr/>
        </p:nvSpPr>
        <p:spPr>
          <a:xfrm>
            <a:off x="4147971" y="2357531"/>
            <a:ext cx="55976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>
                <a:solidFill>
                  <a:srgbClr val="3D8887"/>
                </a:solidFill>
              </a:rPr>
              <a:t>U1_TX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88BEE9-A241-E75E-C05A-0D9045FFBA20}"/>
              </a:ext>
            </a:extLst>
          </p:cNvPr>
          <p:cNvSpPr txBox="1"/>
          <p:nvPr/>
        </p:nvSpPr>
        <p:spPr>
          <a:xfrm>
            <a:off x="4158460" y="3489227"/>
            <a:ext cx="5774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>
                <a:solidFill>
                  <a:srgbClr val="3D8887"/>
                </a:solidFill>
              </a:rPr>
              <a:t>U1_RX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D77161-20AD-F2CE-D7A5-96FCAE25B72B}"/>
              </a:ext>
            </a:extLst>
          </p:cNvPr>
          <p:cNvSpPr/>
          <p:nvPr/>
        </p:nvSpPr>
        <p:spPr>
          <a:xfrm>
            <a:off x="6664944" y="1682844"/>
            <a:ext cx="890935" cy="1174375"/>
          </a:xfrm>
          <a:prstGeom prst="rect">
            <a:avLst/>
          </a:prstGeom>
          <a:solidFill>
            <a:srgbClr val="F5F4EF"/>
          </a:solidFill>
          <a:ln w="19050">
            <a:solidFill>
              <a:srgbClr val="8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3D8887"/>
                </a:solidFill>
              </a:rPr>
              <a:t>NMOS</a:t>
            </a:r>
          </a:p>
          <a:p>
            <a:pPr algn="ctr"/>
            <a:r>
              <a:rPr lang="en-US" sz="1400">
                <a:solidFill>
                  <a:srgbClr val="3D8887"/>
                </a:solidFill>
              </a:rPr>
              <a:t>Line Driver</a:t>
            </a:r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4E69242-7965-FD52-BBD9-BB064DC7AA0A}"/>
              </a:ext>
            </a:extLst>
          </p:cNvPr>
          <p:cNvSpPr/>
          <p:nvPr/>
        </p:nvSpPr>
        <p:spPr>
          <a:xfrm rot="5400000">
            <a:off x="7043739" y="3559828"/>
            <a:ext cx="316006" cy="316006"/>
          </a:xfrm>
          <a:prstGeom prst="triangle">
            <a:avLst/>
          </a:prstGeom>
          <a:solidFill>
            <a:srgbClr val="840000"/>
          </a:solidFill>
          <a:ln w="19050">
            <a:solidFill>
              <a:srgbClr val="8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D34E6B7-9A8F-1079-E25D-70C3B42B8128}"/>
              </a:ext>
            </a:extLst>
          </p:cNvPr>
          <p:cNvSpPr/>
          <p:nvPr/>
        </p:nvSpPr>
        <p:spPr>
          <a:xfrm>
            <a:off x="7336772" y="3559828"/>
            <a:ext cx="83344" cy="316006"/>
          </a:xfrm>
          <a:custGeom>
            <a:avLst/>
            <a:gdLst>
              <a:gd name="connsiteX0" fmla="*/ 83344 w 83344"/>
              <a:gd name="connsiteY0" fmla="*/ 2381 h 426243"/>
              <a:gd name="connsiteX1" fmla="*/ 33338 w 83344"/>
              <a:gd name="connsiteY1" fmla="*/ 0 h 426243"/>
              <a:gd name="connsiteX2" fmla="*/ 38100 w 83344"/>
              <a:gd name="connsiteY2" fmla="*/ 426243 h 426243"/>
              <a:gd name="connsiteX3" fmla="*/ 0 w 83344"/>
              <a:gd name="connsiteY3" fmla="*/ 426243 h 426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344" h="426243">
                <a:moveTo>
                  <a:pt x="83344" y="2381"/>
                </a:moveTo>
                <a:lnTo>
                  <a:pt x="33338" y="0"/>
                </a:lnTo>
                <a:cubicBezTo>
                  <a:pt x="34925" y="142081"/>
                  <a:pt x="36513" y="284162"/>
                  <a:pt x="38100" y="426243"/>
                </a:cubicBezTo>
                <a:lnTo>
                  <a:pt x="0" y="426243"/>
                </a:lnTo>
              </a:path>
            </a:pathLst>
          </a:custGeom>
          <a:noFill/>
          <a:ln w="19050">
            <a:solidFill>
              <a:srgbClr val="8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763D878-50F3-F8CF-E327-3757F952966A}"/>
              </a:ext>
            </a:extLst>
          </p:cNvPr>
          <p:cNvCxnSpPr>
            <a:stCxn id="19" idx="3"/>
          </p:cNvCxnSpPr>
          <p:nvPr/>
        </p:nvCxnSpPr>
        <p:spPr>
          <a:xfrm flipH="1">
            <a:off x="6910528" y="3717831"/>
            <a:ext cx="133211" cy="0"/>
          </a:xfrm>
          <a:prstGeom prst="line">
            <a:avLst/>
          </a:prstGeom>
          <a:ln>
            <a:solidFill>
              <a:srgbClr val="84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D231D34-C3B2-0262-CDE9-175E319A9B8A}"/>
              </a:ext>
            </a:extLst>
          </p:cNvPr>
          <p:cNvCxnSpPr/>
          <p:nvPr/>
        </p:nvCxnSpPr>
        <p:spPr>
          <a:xfrm flipH="1">
            <a:off x="7378444" y="3717831"/>
            <a:ext cx="133211" cy="0"/>
          </a:xfrm>
          <a:prstGeom prst="line">
            <a:avLst/>
          </a:prstGeom>
          <a:ln>
            <a:solidFill>
              <a:srgbClr val="84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B973252-6EC7-9BB7-BA4E-3E6A8D47DC6D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900737" y="3717832"/>
            <a:ext cx="1034970" cy="0"/>
          </a:xfrm>
          <a:prstGeom prst="line">
            <a:avLst/>
          </a:prstGeom>
          <a:ln>
            <a:solidFill>
              <a:srgbClr val="009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0F75D476-4655-C26C-B19E-3EE1C72399D3}"/>
              </a:ext>
            </a:extLst>
          </p:cNvPr>
          <p:cNvSpPr/>
          <p:nvPr/>
        </p:nvSpPr>
        <p:spPr>
          <a:xfrm>
            <a:off x="8320086" y="2314854"/>
            <a:ext cx="1403324" cy="1018896"/>
          </a:xfrm>
          <a:prstGeom prst="rect">
            <a:avLst/>
          </a:prstGeom>
          <a:solidFill>
            <a:srgbClr val="F5F4EF"/>
          </a:solidFill>
          <a:ln w="19050">
            <a:solidFill>
              <a:srgbClr val="8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3D8887"/>
                </a:solidFill>
              </a:rPr>
              <a:t>Signal and Power Conditioning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F639E01-39EF-43EC-8E04-96B2821DE361}"/>
              </a:ext>
            </a:extLst>
          </p:cNvPr>
          <p:cNvCxnSpPr>
            <a:stCxn id="6" idx="3"/>
          </p:cNvCxnSpPr>
          <p:nvPr/>
        </p:nvCxnSpPr>
        <p:spPr>
          <a:xfrm flipV="1">
            <a:off x="5900737" y="1954026"/>
            <a:ext cx="764207" cy="1"/>
          </a:xfrm>
          <a:prstGeom prst="line">
            <a:avLst/>
          </a:prstGeom>
          <a:ln>
            <a:solidFill>
              <a:srgbClr val="009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7DB6778-2CE0-E099-1F08-5913BCC44EB7}"/>
              </a:ext>
            </a:extLst>
          </p:cNvPr>
          <p:cNvCxnSpPr>
            <a:stCxn id="7" idx="3"/>
          </p:cNvCxnSpPr>
          <p:nvPr/>
        </p:nvCxnSpPr>
        <p:spPr>
          <a:xfrm flipV="1">
            <a:off x="5900737" y="2586035"/>
            <a:ext cx="764207" cy="2"/>
          </a:xfrm>
          <a:prstGeom prst="line">
            <a:avLst/>
          </a:prstGeom>
          <a:ln>
            <a:solidFill>
              <a:srgbClr val="009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29BF0A10-30E9-280E-4B8C-FBF2CBD753D8}"/>
              </a:ext>
            </a:extLst>
          </p:cNvPr>
          <p:cNvCxnSpPr>
            <a:cxnSpLocks/>
            <a:stCxn id="18" idx="3"/>
            <a:endCxn id="34" idx="1"/>
          </p:cNvCxnSpPr>
          <p:nvPr/>
        </p:nvCxnSpPr>
        <p:spPr>
          <a:xfrm>
            <a:off x="7555879" y="2270032"/>
            <a:ext cx="764207" cy="554270"/>
          </a:xfrm>
          <a:prstGeom prst="bentConnector3">
            <a:avLst/>
          </a:prstGeom>
          <a:ln>
            <a:solidFill>
              <a:srgbClr val="009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E7226D52-1E3B-E76D-5D10-ECE9F6781051}"/>
              </a:ext>
            </a:extLst>
          </p:cNvPr>
          <p:cNvSpPr/>
          <p:nvPr/>
        </p:nvSpPr>
        <p:spPr>
          <a:xfrm>
            <a:off x="7519987" y="2838450"/>
            <a:ext cx="423863" cy="881062"/>
          </a:xfrm>
          <a:custGeom>
            <a:avLst/>
            <a:gdLst>
              <a:gd name="connsiteX0" fmla="*/ 419100 w 423863"/>
              <a:gd name="connsiteY0" fmla="*/ 0 h 881062"/>
              <a:gd name="connsiteX1" fmla="*/ 423863 w 423863"/>
              <a:gd name="connsiteY1" fmla="*/ 876300 h 881062"/>
              <a:gd name="connsiteX2" fmla="*/ 0 w 423863"/>
              <a:gd name="connsiteY2" fmla="*/ 881062 h 881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863" h="881062">
                <a:moveTo>
                  <a:pt x="419100" y="0"/>
                </a:moveTo>
                <a:cubicBezTo>
                  <a:pt x="420688" y="292100"/>
                  <a:pt x="422275" y="584200"/>
                  <a:pt x="423863" y="876300"/>
                </a:cubicBezTo>
                <a:lnTo>
                  <a:pt x="0" y="881062"/>
                </a:lnTo>
              </a:path>
            </a:pathLst>
          </a:custGeom>
          <a:noFill/>
          <a:ln w="19050">
            <a:solidFill>
              <a:srgbClr val="009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16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EB97F2-863B-E67A-012D-B24AB963D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8713097-7DE6-D47F-90AF-938979A22FAF}"/>
              </a:ext>
            </a:extLst>
          </p:cNvPr>
          <p:cNvSpPr/>
          <p:nvPr/>
        </p:nvSpPr>
        <p:spPr>
          <a:xfrm>
            <a:off x="1235460" y="152636"/>
            <a:ext cx="5868652" cy="6120680"/>
          </a:xfrm>
          <a:prstGeom prst="rect">
            <a:avLst/>
          </a:prstGeom>
          <a:solidFill>
            <a:srgbClr val="F5F4EF"/>
          </a:solidFill>
          <a:ln w="19050">
            <a:solidFill>
              <a:srgbClr val="8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2000295-89BC-AE7C-D56F-F0E1D8CB7ED2}"/>
              </a:ext>
            </a:extLst>
          </p:cNvPr>
          <p:cNvCxnSpPr>
            <a:cxnSpLocks/>
          </p:cNvCxnSpPr>
          <p:nvPr/>
        </p:nvCxnSpPr>
        <p:spPr>
          <a:xfrm flipH="1" flipV="1">
            <a:off x="8713132" y="2241259"/>
            <a:ext cx="934224" cy="1"/>
          </a:xfrm>
          <a:prstGeom prst="line">
            <a:avLst/>
          </a:prstGeom>
          <a:ln>
            <a:solidFill>
              <a:srgbClr val="009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43FB382-3D40-0857-74BE-C1423D5AA464}"/>
              </a:ext>
            </a:extLst>
          </p:cNvPr>
          <p:cNvCxnSpPr/>
          <p:nvPr/>
        </p:nvCxnSpPr>
        <p:spPr>
          <a:xfrm flipH="1" flipV="1">
            <a:off x="8699686" y="2873268"/>
            <a:ext cx="934224" cy="1"/>
          </a:xfrm>
          <a:prstGeom prst="line">
            <a:avLst/>
          </a:prstGeom>
          <a:ln>
            <a:solidFill>
              <a:srgbClr val="009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9C1A0B1-99D8-7649-FDED-BD0EEECA4AA7}"/>
              </a:ext>
            </a:extLst>
          </p:cNvPr>
          <p:cNvCxnSpPr/>
          <p:nvPr/>
        </p:nvCxnSpPr>
        <p:spPr>
          <a:xfrm flipH="1" flipV="1">
            <a:off x="8713132" y="4005064"/>
            <a:ext cx="934224" cy="1"/>
          </a:xfrm>
          <a:prstGeom prst="line">
            <a:avLst/>
          </a:prstGeom>
          <a:ln>
            <a:solidFill>
              <a:srgbClr val="009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EF5871CA-689B-7CE8-49AF-93DFAA2B3721}"/>
              </a:ext>
            </a:extLst>
          </p:cNvPr>
          <p:cNvSpPr/>
          <p:nvPr/>
        </p:nvSpPr>
        <p:spPr>
          <a:xfrm>
            <a:off x="3935760" y="1268760"/>
            <a:ext cx="2160240" cy="1836205"/>
          </a:xfrm>
          <a:prstGeom prst="rect">
            <a:avLst/>
          </a:prstGeom>
          <a:solidFill>
            <a:srgbClr val="D1D1D1">
              <a:alpha val="89804"/>
            </a:srgb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chemeClr val="tx1">
                    <a:lumMod val="75000"/>
                    <a:lumOff val="25000"/>
                  </a:schemeClr>
                </a:solidFill>
              </a:rPr>
              <a:t>DIGITAL Domain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695C892-67DC-C513-168D-833E815C026C}"/>
              </a:ext>
            </a:extLst>
          </p:cNvPr>
          <p:cNvSpPr txBox="1">
            <a:spLocks/>
          </p:cNvSpPr>
          <p:nvPr/>
        </p:nvSpPr>
        <p:spPr>
          <a:xfrm>
            <a:off x="1307468" y="5553280"/>
            <a:ext cx="5283290" cy="5760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i="1">
                <a:solidFill>
                  <a:schemeClr val="tx1">
                    <a:lumMod val="65000"/>
                    <a:lumOff val="35000"/>
                  </a:schemeClr>
                </a:solidFill>
                <a:latin typeface="Eras Demi ITC" panose="020B0805030504020804" pitchFamily="34" charset="0"/>
              </a:rPr>
              <a:t>MDD400 Isolated Domains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B2651D19-6C23-0DE8-9513-29840F354807}"/>
              </a:ext>
            </a:extLst>
          </p:cNvPr>
          <p:cNvSpPr/>
          <p:nvPr/>
        </p:nvSpPr>
        <p:spPr>
          <a:xfrm>
            <a:off x="3590717" y="1725622"/>
            <a:ext cx="236198" cy="198022"/>
          </a:xfrm>
          <a:prstGeom prst="rightArrow">
            <a:avLst/>
          </a:prstGeom>
          <a:solidFill>
            <a:srgbClr val="F5F4EF"/>
          </a:solidFill>
          <a:ln w="19050">
            <a:solidFill>
              <a:srgbClr val="8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Arrow: Left-Right 22">
            <a:extLst>
              <a:ext uri="{FF2B5EF4-FFF2-40B4-BE49-F238E27FC236}">
                <a16:creationId xmlns:a16="http://schemas.microsoft.com/office/drawing/2014/main" id="{4B099A6F-BE01-9A83-EBF5-054729F10885}"/>
              </a:ext>
            </a:extLst>
          </p:cNvPr>
          <p:cNvSpPr/>
          <p:nvPr/>
        </p:nvSpPr>
        <p:spPr>
          <a:xfrm>
            <a:off x="3590717" y="2873268"/>
            <a:ext cx="236198" cy="141686"/>
          </a:xfrm>
          <a:prstGeom prst="leftRightArrow">
            <a:avLst/>
          </a:prstGeom>
          <a:solidFill>
            <a:srgbClr val="F5F4EF"/>
          </a:solidFill>
          <a:ln w="19050">
            <a:solidFill>
              <a:srgbClr val="8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Arrow: Left-Right 23">
            <a:extLst>
              <a:ext uri="{FF2B5EF4-FFF2-40B4-BE49-F238E27FC236}">
                <a16:creationId xmlns:a16="http://schemas.microsoft.com/office/drawing/2014/main" id="{719B4B48-21EB-F521-33A6-8ED073A092C8}"/>
              </a:ext>
            </a:extLst>
          </p:cNvPr>
          <p:cNvSpPr/>
          <p:nvPr/>
        </p:nvSpPr>
        <p:spPr>
          <a:xfrm rot="5400000">
            <a:off x="5329829" y="3235049"/>
            <a:ext cx="236198" cy="141686"/>
          </a:xfrm>
          <a:prstGeom prst="leftRightArrow">
            <a:avLst/>
          </a:prstGeom>
          <a:solidFill>
            <a:srgbClr val="F5F4EF"/>
          </a:solidFill>
          <a:ln w="19050">
            <a:solidFill>
              <a:srgbClr val="8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7D4381-EFF1-3A96-CC4E-CF77D35490FF}"/>
              </a:ext>
            </a:extLst>
          </p:cNvPr>
          <p:cNvSpPr/>
          <p:nvPr/>
        </p:nvSpPr>
        <p:spPr>
          <a:xfrm>
            <a:off x="1775520" y="2708920"/>
            <a:ext cx="1692188" cy="2844360"/>
          </a:xfrm>
          <a:prstGeom prst="rect">
            <a:avLst/>
          </a:prstGeom>
          <a:solidFill>
            <a:srgbClr val="A20000">
              <a:alpha val="89804"/>
            </a:srgbClr>
          </a:solidFill>
          <a:ln w="1905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CAN Domain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7D4F74-1475-657A-59E8-8E6BD60DA7DE}"/>
              </a:ext>
            </a:extLst>
          </p:cNvPr>
          <p:cNvSpPr/>
          <p:nvPr/>
        </p:nvSpPr>
        <p:spPr>
          <a:xfrm>
            <a:off x="1775520" y="1268760"/>
            <a:ext cx="1692188" cy="1111747"/>
          </a:xfrm>
          <a:prstGeom prst="rect">
            <a:avLst/>
          </a:prstGeom>
          <a:solidFill>
            <a:srgbClr val="215F9A">
              <a:alpha val="89804"/>
            </a:srgbClr>
          </a:solidFill>
          <a:ln w="1905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SMPS Domain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2129D5C6-DB59-D56C-C577-BCC8FC71E744}"/>
              </a:ext>
            </a:extLst>
          </p:cNvPr>
          <p:cNvSpPr/>
          <p:nvPr/>
        </p:nvSpPr>
        <p:spPr>
          <a:xfrm rot="16200000">
            <a:off x="2494514" y="2445703"/>
            <a:ext cx="236198" cy="198022"/>
          </a:xfrm>
          <a:prstGeom prst="rightArrow">
            <a:avLst/>
          </a:prstGeom>
          <a:solidFill>
            <a:srgbClr val="F5F4EF"/>
          </a:solidFill>
          <a:ln w="19050">
            <a:solidFill>
              <a:srgbClr val="8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6956C1-036D-851B-EFF9-0D464E9E5C35}"/>
              </a:ext>
            </a:extLst>
          </p:cNvPr>
          <p:cNvSpPr/>
          <p:nvPr/>
        </p:nvSpPr>
        <p:spPr>
          <a:xfrm>
            <a:off x="4727848" y="3499990"/>
            <a:ext cx="1368152" cy="2053289"/>
          </a:xfrm>
          <a:prstGeom prst="rect">
            <a:avLst/>
          </a:prstGeom>
          <a:solidFill>
            <a:srgbClr val="11838F">
              <a:alpha val="89804"/>
            </a:srgbClr>
          </a:solidFill>
          <a:ln w="19050">
            <a:solidFill>
              <a:srgbClr val="118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LEGACY IO Domain</a:t>
            </a:r>
          </a:p>
        </p:txBody>
      </p:sp>
    </p:spTree>
    <p:extLst>
      <p:ext uri="{BB962C8B-B14F-4D97-AF65-F5344CB8AC3E}">
        <p14:creationId xmlns:p14="http://schemas.microsoft.com/office/powerpoint/2010/main" val="3065089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CE37E-8C86-F5E5-0B83-5B9C5D42A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53F6315-E101-F542-ADAD-AF2A8B2A60B5}"/>
              </a:ext>
            </a:extLst>
          </p:cNvPr>
          <p:cNvSpPr/>
          <p:nvPr/>
        </p:nvSpPr>
        <p:spPr>
          <a:xfrm>
            <a:off x="1235460" y="152636"/>
            <a:ext cx="5868652" cy="6120680"/>
          </a:xfrm>
          <a:prstGeom prst="rect">
            <a:avLst/>
          </a:prstGeom>
          <a:solidFill>
            <a:srgbClr val="F5F4EF"/>
          </a:solidFill>
          <a:ln w="19050">
            <a:solidFill>
              <a:srgbClr val="8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5B0CCB-B588-E010-6D89-4405D1BB1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960" y="404664"/>
            <a:ext cx="4965104" cy="49296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01D1CF-C2FF-ABD6-13F6-ACBD672DD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471" y="5239356"/>
            <a:ext cx="9532957" cy="1325563"/>
          </a:xfrm>
        </p:spPr>
        <p:txBody>
          <a:bodyPr>
            <a:normAutofit/>
          </a:bodyPr>
          <a:lstStyle/>
          <a:p>
            <a:r>
              <a:rPr lang="en-US" sz="1800" i="1">
                <a:solidFill>
                  <a:schemeClr val="tx1">
                    <a:lumMod val="65000"/>
                    <a:lumOff val="35000"/>
                  </a:schemeClr>
                </a:solidFill>
                <a:latin typeface="Eras Demi ITC" panose="020B0805030504020804" pitchFamily="34" charset="0"/>
              </a:rPr>
              <a:t>MDD400 Isolation Domains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D1683D-5C5A-ADB2-A87B-C75F7E22DA90}"/>
              </a:ext>
            </a:extLst>
          </p:cNvPr>
          <p:cNvSpPr/>
          <p:nvPr/>
        </p:nvSpPr>
        <p:spPr>
          <a:xfrm>
            <a:off x="1811524" y="1628800"/>
            <a:ext cx="1692188" cy="3564396"/>
          </a:xfrm>
          <a:prstGeom prst="rect">
            <a:avLst/>
          </a:prstGeom>
          <a:solidFill>
            <a:srgbClr val="A20000">
              <a:alpha val="89804"/>
            </a:srgbClr>
          </a:solidFill>
          <a:ln w="1905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14729A-7240-EDDB-2619-1AFF0AD01113}"/>
              </a:ext>
            </a:extLst>
          </p:cNvPr>
          <p:cNvSpPr txBox="1"/>
          <p:nvPr/>
        </p:nvSpPr>
        <p:spPr>
          <a:xfrm>
            <a:off x="2236847" y="3180166"/>
            <a:ext cx="10125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CAN Domain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B306B46-087D-7AB3-CE15-CD7969033EEF}"/>
              </a:ext>
            </a:extLst>
          </p:cNvPr>
          <p:cNvSpPr/>
          <p:nvPr/>
        </p:nvSpPr>
        <p:spPr>
          <a:xfrm>
            <a:off x="5447927" y="2708920"/>
            <a:ext cx="1008113" cy="2412267"/>
          </a:xfrm>
          <a:prstGeom prst="rect">
            <a:avLst/>
          </a:prstGeom>
          <a:solidFill>
            <a:srgbClr val="11838F">
              <a:alpha val="89804"/>
            </a:srgbClr>
          </a:solidFill>
          <a:ln w="19050">
            <a:solidFill>
              <a:srgbClr val="118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592937F-A08A-E0A9-C170-2179CCFA61FF}"/>
              </a:ext>
            </a:extLst>
          </p:cNvPr>
          <p:cNvSpPr/>
          <p:nvPr/>
        </p:nvSpPr>
        <p:spPr>
          <a:xfrm>
            <a:off x="3935760" y="584684"/>
            <a:ext cx="2520280" cy="1656184"/>
          </a:xfrm>
          <a:prstGeom prst="rect">
            <a:avLst/>
          </a:prstGeom>
          <a:solidFill>
            <a:srgbClr val="D1D1D1">
              <a:alpha val="89804"/>
            </a:srgb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FFEB827-922C-BF19-E371-85AE27290659}"/>
              </a:ext>
            </a:extLst>
          </p:cNvPr>
          <p:cNvSpPr txBox="1"/>
          <p:nvPr/>
        </p:nvSpPr>
        <p:spPr>
          <a:xfrm>
            <a:off x="4537197" y="1367108"/>
            <a:ext cx="14041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solidFill>
                  <a:schemeClr val="bg2">
                    <a:lumMod val="25000"/>
                  </a:schemeClr>
                </a:solidFill>
              </a:rPr>
              <a:t>DIGITAL Domain</a:t>
            </a:r>
            <a:endParaRPr lang="en-US" sz="9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CD5BE2-9F0E-9246-166F-EAA9624B988B}"/>
              </a:ext>
            </a:extLst>
          </p:cNvPr>
          <p:cNvSpPr txBox="1"/>
          <p:nvPr/>
        </p:nvSpPr>
        <p:spPr>
          <a:xfrm>
            <a:off x="5447927" y="3330130"/>
            <a:ext cx="1080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LEGACY IO Domain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4CC541-6ACB-2E9A-0978-AFAB40E8B142}"/>
              </a:ext>
            </a:extLst>
          </p:cNvPr>
          <p:cNvSpPr/>
          <p:nvPr/>
        </p:nvSpPr>
        <p:spPr>
          <a:xfrm>
            <a:off x="1811524" y="548680"/>
            <a:ext cx="1692188" cy="900100"/>
          </a:xfrm>
          <a:prstGeom prst="rect">
            <a:avLst/>
          </a:prstGeom>
          <a:solidFill>
            <a:srgbClr val="215F9A">
              <a:alpha val="89804"/>
            </a:srgbClr>
          </a:solidFill>
          <a:ln w="1905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E450E8-4C54-1773-E908-40922E0FBB06}"/>
              </a:ext>
            </a:extLst>
          </p:cNvPr>
          <p:cNvSpPr txBox="1"/>
          <p:nvPr/>
        </p:nvSpPr>
        <p:spPr>
          <a:xfrm>
            <a:off x="2169367" y="883314"/>
            <a:ext cx="10125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SMPS Domain</a:t>
            </a:r>
            <a:endParaRPr lang="en-US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4487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DC66077-2095-BE17-64BB-49727395C2C3}"/>
              </a:ext>
            </a:extLst>
          </p:cNvPr>
          <p:cNvSpPr/>
          <p:nvPr/>
        </p:nvSpPr>
        <p:spPr>
          <a:xfrm>
            <a:off x="1235460" y="152636"/>
            <a:ext cx="5868652" cy="6120680"/>
          </a:xfrm>
          <a:prstGeom prst="rect">
            <a:avLst/>
          </a:prstGeom>
          <a:solidFill>
            <a:srgbClr val="F5F4EF"/>
          </a:solidFill>
          <a:ln w="19050">
            <a:solidFill>
              <a:srgbClr val="8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BD6B5A-4076-E3F8-964D-4AACE8EAD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729" y="404664"/>
            <a:ext cx="5024144" cy="4968552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502C799-21FF-D5AF-1F7D-CC86188B3EF6}"/>
              </a:ext>
            </a:extLst>
          </p:cNvPr>
          <p:cNvSpPr/>
          <p:nvPr/>
        </p:nvSpPr>
        <p:spPr>
          <a:xfrm>
            <a:off x="3771900" y="1127125"/>
            <a:ext cx="1416050" cy="1454150"/>
          </a:xfrm>
          <a:custGeom>
            <a:avLst/>
            <a:gdLst>
              <a:gd name="connsiteX0" fmla="*/ 0 w 1416050"/>
              <a:gd name="connsiteY0" fmla="*/ 698500 h 1454150"/>
              <a:gd name="connsiteX1" fmla="*/ 9525 w 1416050"/>
              <a:gd name="connsiteY1" fmla="*/ 1454150 h 1454150"/>
              <a:gd name="connsiteX2" fmla="*/ 1416050 w 1416050"/>
              <a:gd name="connsiteY2" fmla="*/ 1447800 h 1454150"/>
              <a:gd name="connsiteX3" fmla="*/ 1409700 w 1416050"/>
              <a:gd name="connsiteY3" fmla="*/ 212725 h 1454150"/>
              <a:gd name="connsiteX4" fmla="*/ 806450 w 1416050"/>
              <a:gd name="connsiteY4" fmla="*/ 212725 h 1454150"/>
              <a:gd name="connsiteX5" fmla="*/ 800100 w 1416050"/>
              <a:gd name="connsiteY5" fmla="*/ 3175 h 1454150"/>
              <a:gd name="connsiteX6" fmla="*/ 422275 w 1416050"/>
              <a:gd name="connsiteY6" fmla="*/ 0 h 1454150"/>
              <a:gd name="connsiteX7" fmla="*/ 415925 w 1416050"/>
              <a:gd name="connsiteY7" fmla="*/ 701675 h 1454150"/>
              <a:gd name="connsiteX8" fmla="*/ 0 w 1416050"/>
              <a:gd name="connsiteY8" fmla="*/ 698500 h 1454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16050" h="1454150">
                <a:moveTo>
                  <a:pt x="0" y="698500"/>
                </a:moveTo>
                <a:lnTo>
                  <a:pt x="9525" y="1454150"/>
                </a:lnTo>
                <a:lnTo>
                  <a:pt x="1416050" y="1447800"/>
                </a:lnTo>
                <a:cubicBezTo>
                  <a:pt x="1413933" y="1036108"/>
                  <a:pt x="1411817" y="624417"/>
                  <a:pt x="1409700" y="212725"/>
                </a:cubicBezTo>
                <a:lnTo>
                  <a:pt x="806450" y="212725"/>
                </a:lnTo>
                <a:lnTo>
                  <a:pt x="800100" y="3175"/>
                </a:lnTo>
                <a:lnTo>
                  <a:pt x="422275" y="0"/>
                </a:lnTo>
                <a:cubicBezTo>
                  <a:pt x="420158" y="233892"/>
                  <a:pt x="418042" y="467783"/>
                  <a:pt x="415925" y="701675"/>
                </a:cubicBezTo>
                <a:lnTo>
                  <a:pt x="0" y="698500"/>
                </a:lnTo>
                <a:close/>
              </a:path>
            </a:pathLst>
          </a:custGeom>
          <a:solidFill>
            <a:srgbClr val="B1B100">
              <a:alpha val="89804"/>
            </a:srgbClr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002232-2CB3-9A10-E860-AE12067DD7C6}"/>
              </a:ext>
            </a:extLst>
          </p:cNvPr>
          <p:cNvSpPr/>
          <p:nvPr/>
        </p:nvSpPr>
        <p:spPr>
          <a:xfrm>
            <a:off x="1811524" y="1877814"/>
            <a:ext cx="1728192" cy="2271266"/>
          </a:xfrm>
          <a:prstGeom prst="rect">
            <a:avLst/>
          </a:prstGeom>
          <a:solidFill>
            <a:srgbClr val="A20000">
              <a:alpha val="89804"/>
            </a:srgbClr>
          </a:solidFill>
          <a:ln w="19050">
            <a:solidFill>
              <a:srgbClr val="8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251B28-09CC-79DD-F766-D24D092D5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471" y="5711320"/>
            <a:ext cx="5283290" cy="576036"/>
          </a:xfrm>
        </p:spPr>
        <p:txBody>
          <a:bodyPr>
            <a:normAutofit/>
          </a:bodyPr>
          <a:lstStyle/>
          <a:p>
            <a:r>
              <a:rPr lang="en-US" sz="1800" i="1">
                <a:solidFill>
                  <a:schemeClr val="tx1">
                    <a:lumMod val="65000"/>
                    <a:lumOff val="35000"/>
                  </a:schemeClr>
                </a:solidFill>
                <a:latin typeface="Eras Demi ITC" panose="020B0805030504020804" pitchFamily="34" charset="0"/>
              </a:rPr>
              <a:t>MDD400 Functional Block Diagram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D45D73-8D38-D47D-B89C-0C36211329E5}"/>
              </a:ext>
            </a:extLst>
          </p:cNvPr>
          <p:cNvSpPr txBox="1"/>
          <p:nvPr/>
        </p:nvSpPr>
        <p:spPr>
          <a:xfrm>
            <a:off x="1811524" y="1877814"/>
            <a:ext cx="8564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>
                <a:solidFill>
                  <a:schemeClr val="bg1"/>
                </a:solidFill>
              </a:rPr>
              <a:t>NET-S </a:t>
            </a:r>
          </a:p>
          <a:p>
            <a:r>
              <a:rPr lang="en-US" sz="600">
                <a:solidFill>
                  <a:schemeClr val="bg1"/>
                </a:solidFill>
              </a:rPr>
              <a:t>Transient and ESD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FB3BA9-25EB-BBC3-18BA-0327DCA618FD}"/>
              </a:ext>
            </a:extLst>
          </p:cNvPr>
          <p:cNvSpPr/>
          <p:nvPr/>
        </p:nvSpPr>
        <p:spPr>
          <a:xfrm>
            <a:off x="1811524" y="548680"/>
            <a:ext cx="1296144" cy="1296144"/>
          </a:xfrm>
          <a:prstGeom prst="rect">
            <a:avLst/>
          </a:prstGeom>
          <a:solidFill>
            <a:srgbClr val="215F9A">
              <a:alpha val="89804"/>
            </a:srgbClr>
          </a:solidFill>
          <a:ln w="1905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9E8795-B014-1352-086C-8E61D84F33DF}"/>
              </a:ext>
            </a:extLst>
          </p:cNvPr>
          <p:cNvSpPr txBox="1"/>
          <p:nvPr/>
        </p:nvSpPr>
        <p:spPr>
          <a:xfrm>
            <a:off x="1775520" y="512676"/>
            <a:ext cx="759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>
                <a:solidFill>
                  <a:schemeClr val="bg1"/>
                </a:solidFill>
              </a:rPr>
              <a:t>5v5 SMPS (VPP)</a:t>
            </a:r>
          </a:p>
          <a:p>
            <a:r>
              <a:rPr lang="en-US" sz="600">
                <a:solidFill>
                  <a:schemeClr val="bg1"/>
                </a:solidFill>
              </a:rPr>
              <a:t>DC-DC Converter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6F8213-87D5-9D50-EDC4-B5F116A72D5B}"/>
              </a:ext>
            </a:extLst>
          </p:cNvPr>
          <p:cNvSpPr/>
          <p:nvPr/>
        </p:nvSpPr>
        <p:spPr>
          <a:xfrm>
            <a:off x="3149241" y="1160748"/>
            <a:ext cx="1030745" cy="658228"/>
          </a:xfrm>
          <a:prstGeom prst="rect">
            <a:avLst/>
          </a:prstGeom>
          <a:solidFill>
            <a:srgbClr val="CC00CC">
              <a:alpha val="89804"/>
            </a:srgbClr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945C66-B60A-DFD7-E838-87B5C9AD0D5E}"/>
              </a:ext>
            </a:extLst>
          </p:cNvPr>
          <p:cNvSpPr txBox="1"/>
          <p:nvPr/>
        </p:nvSpPr>
        <p:spPr>
          <a:xfrm>
            <a:off x="3105435" y="1157734"/>
            <a:ext cx="10745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>
                <a:solidFill>
                  <a:schemeClr val="bg1"/>
                </a:solidFill>
              </a:rPr>
              <a:t>CAN bus </a:t>
            </a:r>
          </a:p>
          <a:p>
            <a:r>
              <a:rPr lang="en-US" sz="600">
                <a:solidFill>
                  <a:schemeClr val="bg1"/>
                </a:solidFill>
              </a:rPr>
              <a:t>Isolated CAN Transceiver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72175A3-76A4-9A46-F64F-C5D90349F934}"/>
              </a:ext>
            </a:extLst>
          </p:cNvPr>
          <p:cNvSpPr/>
          <p:nvPr/>
        </p:nvSpPr>
        <p:spPr>
          <a:xfrm>
            <a:off x="3155319" y="548680"/>
            <a:ext cx="1429706" cy="576064"/>
          </a:xfrm>
          <a:prstGeom prst="rect">
            <a:avLst/>
          </a:prstGeom>
          <a:solidFill>
            <a:srgbClr val="C04F15">
              <a:alpha val="89804"/>
            </a:srgbClr>
          </a:solidFill>
          <a:ln w="190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29775D-30A6-8164-BA05-89562732CA22}"/>
              </a:ext>
            </a:extLst>
          </p:cNvPr>
          <p:cNvSpPr txBox="1"/>
          <p:nvPr/>
        </p:nvSpPr>
        <p:spPr>
          <a:xfrm>
            <a:off x="3111513" y="509662"/>
            <a:ext cx="14297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>
                <a:solidFill>
                  <a:schemeClr val="bg1"/>
                </a:solidFill>
              </a:rPr>
              <a:t>Power Isolation (VPP : VSS)</a:t>
            </a:r>
          </a:p>
          <a:p>
            <a:r>
              <a:rPr lang="en-US" sz="600">
                <a:solidFill>
                  <a:schemeClr val="bg1"/>
                </a:solidFill>
              </a:rPr>
              <a:t>5 V DC Isolation Transformer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EF4571-7199-B2B2-64E5-3185FEA5BB03}"/>
              </a:ext>
            </a:extLst>
          </p:cNvPr>
          <p:cNvSpPr/>
          <p:nvPr/>
        </p:nvSpPr>
        <p:spPr>
          <a:xfrm>
            <a:off x="4582791" y="545520"/>
            <a:ext cx="614265" cy="795248"/>
          </a:xfrm>
          <a:prstGeom prst="rect">
            <a:avLst/>
          </a:prstGeom>
          <a:solidFill>
            <a:srgbClr val="3B7D23">
              <a:alpha val="89804"/>
            </a:srgb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251F03-FC64-74A0-F5F3-655CCC886382}"/>
              </a:ext>
            </a:extLst>
          </p:cNvPr>
          <p:cNvSpPr txBox="1"/>
          <p:nvPr/>
        </p:nvSpPr>
        <p:spPr>
          <a:xfrm>
            <a:off x="4400882" y="2315285"/>
            <a:ext cx="8382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b="1">
                <a:solidFill>
                  <a:schemeClr val="bg1"/>
                </a:solidFill>
              </a:rPr>
              <a:t>5 V Domain (VSS)</a:t>
            </a:r>
          </a:p>
          <a:p>
            <a:pPr algn="r"/>
            <a:r>
              <a:rPr lang="en-US" sz="600">
                <a:solidFill>
                  <a:schemeClr val="bg1"/>
                </a:solidFill>
              </a:rPr>
              <a:t>Display and Buzzer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303C381-2336-253B-252B-F82CBF7FF64B}"/>
              </a:ext>
            </a:extLst>
          </p:cNvPr>
          <p:cNvSpPr/>
          <p:nvPr/>
        </p:nvSpPr>
        <p:spPr>
          <a:xfrm>
            <a:off x="5233503" y="2807310"/>
            <a:ext cx="1294545" cy="1737814"/>
          </a:xfrm>
          <a:prstGeom prst="rect">
            <a:avLst/>
          </a:prstGeom>
          <a:solidFill>
            <a:srgbClr val="11838F">
              <a:alpha val="89804"/>
            </a:srgbClr>
          </a:solidFill>
          <a:ln w="19050">
            <a:solidFill>
              <a:srgbClr val="118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3FB7F3F-5BF1-497A-48E4-0F3E965EFDDC}"/>
              </a:ext>
            </a:extLst>
          </p:cNvPr>
          <p:cNvSpPr txBox="1"/>
          <p:nvPr/>
        </p:nvSpPr>
        <p:spPr>
          <a:xfrm>
            <a:off x="5233503" y="2807310"/>
            <a:ext cx="10745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>
                <a:solidFill>
                  <a:schemeClr val="bg1"/>
                </a:solidFill>
              </a:rPr>
              <a:t>SeaTalk / NMEA 0183</a:t>
            </a:r>
          </a:p>
          <a:p>
            <a:r>
              <a:rPr lang="en-US" sz="600">
                <a:solidFill>
                  <a:schemeClr val="bg1"/>
                </a:solidFill>
              </a:rPr>
              <a:t>Isolated Serial Interface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BB42701-F1F8-40E1-1E0C-E2BBB6436A7A}"/>
              </a:ext>
            </a:extLst>
          </p:cNvPr>
          <p:cNvSpPr/>
          <p:nvPr/>
        </p:nvSpPr>
        <p:spPr>
          <a:xfrm>
            <a:off x="5197056" y="545520"/>
            <a:ext cx="1429705" cy="2019384"/>
          </a:xfrm>
          <a:prstGeom prst="rect">
            <a:avLst/>
          </a:prstGeom>
          <a:solidFill>
            <a:srgbClr val="D1D1D1">
              <a:alpha val="89804"/>
            </a:srgb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9EC7E2-013B-EABE-F8C3-7BBED21AE86E}"/>
              </a:ext>
            </a:extLst>
          </p:cNvPr>
          <p:cNvSpPr txBox="1"/>
          <p:nvPr/>
        </p:nvSpPr>
        <p:spPr>
          <a:xfrm>
            <a:off x="5308652" y="1207995"/>
            <a:ext cx="12193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>
                <a:solidFill>
                  <a:schemeClr val="tx1">
                    <a:lumMod val="85000"/>
                    <a:lumOff val="15000"/>
                  </a:schemeClr>
                </a:solidFill>
              </a:rPr>
              <a:t>3.3 V Domain (VCC)</a:t>
            </a:r>
          </a:p>
          <a:p>
            <a:pPr algn="ctr"/>
            <a:r>
              <a:rPr lang="en-US" sz="600">
                <a:solidFill>
                  <a:schemeClr val="tx1">
                    <a:lumMod val="85000"/>
                    <a:lumOff val="15000"/>
                  </a:schemeClr>
                </a:solidFill>
              </a:rPr>
              <a:t>MCU and sensors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CAAE8E-ED3C-FAA1-F2DB-D616E450A2DF}"/>
              </a:ext>
            </a:extLst>
          </p:cNvPr>
          <p:cNvSpPr txBox="1"/>
          <p:nvPr/>
        </p:nvSpPr>
        <p:spPr>
          <a:xfrm>
            <a:off x="4506468" y="512022"/>
            <a:ext cx="759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>
                <a:solidFill>
                  <a:schemeClr val="bg1"/>
                </a:solidFill>
              </a:rPr>
              <a:t>3v3 SMPS (VPP)</a:t>
            </a:r>
          </a:p>
          <a:p>
            <a:r>
              <a:rPr lang="en-US" sz="600">
                <a:solidFill>
                  <a:schemeClr val="bg1"/>
                </a:solidFill>
              </a:rPr>
              <a:t>DC-DC Converter</a:t>
            </a:r>
          </a:p>
        </p:txBody>
      </p:sp>
    </p:spTree>
    <p:extLst>
      <p:ext uri="{BB962C8B-B14F-4D97-AF65-F5344CB8AC3E}">
        <p14:creationId xmlns:p14="http://schemas.microsoft.com/office/powerpoint/2010/main" val="3598675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82F5D8-22F6-9A24-75B7-9C3A510FBCF9}"/>
              </a:ext>
            </a:extLst>
          </p:cNvPr>
          <p:cNvSpPr/>
          <p:nvPr/>
        </p:nvSpPr>
        <p:spPr>
          <a:xfrm>
            <a:off x="1235460" y="152636"/>
            <a:ext cx="5868652" cy="6120680"/>
          </a:xfrm>
          <a:prstGeom prst="rect">
            <a:avLst/>
          </a:prstGeom>
          <a:solidFill>
            <a:srgbClr val="F5F4EF"/>
          </a:solidFill>
          <a:ln w="19050">
            <a:solidFill>
              <a:srgbClr val="8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236495-055B-E7D5-DBF1-0253F6EC3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729" y="415274"/>
            <a:ext cx="4978943" cy="494733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F3416E-B13F-002D-AD8F-4F3F29CABB22}"/>
              </a:ext>
            </a:extLst>
          </p:cNvPr>
          <p:cNvSpPr/>
          <p:nvPr/>
        </p:nvSpPr>
        <p:spPr>
          <a:xfrm>
            <a:off x="1883532" y="1664804"/>
            <a:ext cx="1702405" cy="716921"/>
          </a:xfrm>
          <a:prstGeom prst="rect">
            <a:avLst/>
          </a:prstGeom>
          <a:solidFill>
            <a:srgbClr val="CC00CC">
              <a:alpha val="89804"/>
            </a:srgbClr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FA95E4-96FB-9DE6-56E2-535328F856F3}"/>
              </a:ext>
            </a:extLst>
          </p:cNvPr>
          <p:cNvSpPr/>
          <p:nvPr/>
        </p:nvSpPr>
        <p:spPr>
          <a:xfrm>
            <a:off x="1883531" y="2572356"/>
            <a:ext cx="1695853" cy="2637819"/>
          </a:xfrm>
          <a:prstGeom prst="rect">
            <a:avLst/>
          </a:prstGeom>
          <a:solidFill>
            <a:srgbClr val="A20000">
              <a:alpha val="89804"/>
            </a:srgbClr>
          </a:solidFill>
          <a:ln w="19050">
            <a:solidFill>
              <a:srgbClr val="8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A8E8709-4FD4-A715-F9E9-110B2B820029}"/>
              </a:ext>
            </a:extLst>
          </p:cNvPr>
          <p:cNvSpPr/>
          <p:nvPr/>
        </p:nvSpPr>
        <p:spPr>
          <a:xfrm>
            <a:off x="3867150" y="566738"/>
            <a:ext cx="2652713" cy="4643437"/>
          </a:xfrm>
          <a:custGeom>
            <a:avLst/>
            <a:gdLst>
              <a:gd name="connsiteX0" fmla="*/ 0 w 2652713"/>
              <a:gd name="connsiteY0" fmla="*/ 4762 h 4643437"/>
              <a:gd name="connsiteX1" fmla="*/ 0 w 2652713"/>
              <a:gd name="connsiteY1" fmla="*/ 4643437 h 4643437"/>
              <a:gd name="connsiteX2" fmla="*/ 1514475 w 2652713"/>
              <a:gd name="connsiteY2" fmla="*/ 4633912 h 4643437"/>
              <a:gd name="connsiteX3" fmla="*/ 1509713 w 2652713"/>
              <a:gd name="connsiteY3" fmla="*/ 2657475 h 4643437"/>
              <a:gd name="connsiteX4" fmla="*/ 171450 w 2652713"/>
              <a:gd name="connsiteY4" fmla="*/ 2652712 h 4643437"/>
              <a:gd name="connsiteX5" fmla="*/ 176213 w 2652713"/>
              <a:gd name="connsiteY5" fmla="*/ 2019300 h 4643437"/>
              <a:gd name="connsiteX6" fmla="*/ 1519238 w 2652713"/>
              <a:gd name="connsiteY6" fmla="*/ 2033587 h 4643437"/>
              <a:gd name="connsiteX7" fmla="*/ 1509713 w 2652713"/>
              <a:gd name="connsiteY7" fmla="*/ 1928812 h 4643437"/>
              <a:gd name="connsiteX8" fmla="*/ 1624013 w 2652713"/>
              <a:gd name="connsiteY8" fmla="*/ 1928812 h 4643437"/>
              <a:gd name="connsiteX9" fmla="*/ 1628775 w 2652713"/>
              <a:gd name="connsiteY9" fmla="*/ 1819275 h 4643437"/>
              <a:gd name="connsiteX10" fmla="*/ 2652713 w 2652713"/>
              <a:gd name="connsiteY10" fmla="*/ 1824037 h 4643437"/>
              <a:gd name="connsiteX11" fmla="*/ 2652713 w 2652713"/>
              <a:gd name="connsiteY11" fmla="*/ 1347787 h 4643437"/>
              <a:gd name="connsiteX12" fmla="*/ 2433638 w 2652713"/>
              <a:gd name="connsiteY12" fmla="*/ 1347787 h 4643437"/>
              <a:gd name="connsiteX13" fmla="*/ 2443163 w 2652713"/>
              <a:gd name="connsiteY13" fmla="*/ 371475 h 4643437"/>
              <a:gd name="connsiteX14" fmla="*/ 2652713 w 2652713"/>
              <a:gd name="connsiteY14" fmla="*/ 366712 h 4643437"/>
              <a:gd name="connsiteX15" fmla="*/ 2652713 w 2652713"/>
              <a:gd name="connsiteY15" fmla="*/ 0 h 4643437"/>
              <a:gd name="connsiteX16" fmla="*/ 0 w 2652713"/>
              <a:gd name="connsiteY16" fmla="*/ 4762 h 4643437"/>
              <a:gd name="connsiteX0" fmla="*/ 0 w 2652713"/>
              <a:gd name="connsiteY0" fmla="*/ 4762 h 4643437"/>
              <a:gd name="connsiteX1" fmla="*/ 0 w 2652713"/>
              <a:gd name="connsiteY1" fmla="*/ 4643437 h 4643437"/>
              <a:gd name="connsiteX2" fmla="*/ 1514475 w 2652713"/>
              <a:gd name="connsiteY2" fmla="*/ 4633912 h 4643437"/>
              <a:gd name="connsiteX3" fmla="*/ 1509713 w 2652713"/>
              <a:gd name="connsiteY3" fmla="*/ 2657475 h 4643437"/>
              <a:gd name="connsiteX4" fmla="*/ 171450 w 2652713"/>
              <a:gd name="connsiteY4" fmla="*/ 2652712 h 4643437"/>
              <a:gd name="connsiteX5" fmla="*/ 176213 w 2652713"/>
              <a:gd name="connsiteY5" fmla="*/ 2019300 h 4643437"/>
              <a:gd name="connsiteX6" fmla="*/ 1519238 w 2652713"/>
              <a:gd name="connsiteY6" fmla="*/ 2033587 h 4643437"/>
              <a:gd name="connsiteX7" fmla="*/ 1522413 w 2652713"/>
              <a:gd name="connsiteY7" fmla="*/ 1925637 h 4643437"/>
              <a:gd name="connsiteX8" fmla="*/ 1624013 w 2652713"/>
              <a:gd name="connsiteY8" fmla="*/ 1928812 h 4643437"/>
              <a:gd name="connsiteX9" fmla="*/ 1628775 w 2652713"/>
              <a:gd name="connsiteY9" fmla="*/ 1819275 h 4643437"/>
              <a:gd name="connsiteX10" fmla="*/ 2652713 w 2652713"/>
              <a:gd name="connsiteY10" fmla="*/ 1824037 h 4643437"/>
              <a:gd name="connsiteX11" fmla="*/ 2652713 w 2652713"/>
              <a:gd name="connsiteY11" fmla="*/ 1347787 h 4643437"/>
              <a:gd name="connsiteX12" fmla="*/ 2433638 w 2652713"/>
              <a:gd name="connsiteY12" fmla="*/ 1347787 h 4643437"/>
              <a:gd name="connsiteX13" fmla="*/ 2443163 w 2652713"/>
              <a:gd name="connsiteY13" fmla="*/ 371475 h 4643437"/>
              <a:gd name="connsiteX14" fmla="*/ 2652713 w 2652713"/>
              <a:gd name="connsiteY14" fmla="*/ 366712 h 4643437"/>
              <a:gd name="connsiteX15" fmla="*/ 2652713 w 2652713"/>
              <a:gd name="connsiteY15" fmla="*/ 0 h 4643437"/>
              <a:gd name="connsiteX16" fmla="*/ 0 w 2652713"/>
              <a:gd name="connsiteY16" fmla="*/ 4762 h 4643437"/>
              <a:gd name="connsiteX0" fmla="*/ 0 w 2652713"/>
              <a:gd name="connsiteY0" fmla="*/ 4762 h 4643437"/>
              <a:gd name="connsiteX1" fmla="*/ 0 w 2652713"/>
              <a:gd name="connsiteY1" fmla="*/ 4643437 h 4643437"/>
              <a:gd name="connsiteX2" fmla="*/ 1514475 w 2652713"/>
              <a:gd name="connsiteY2" fmla="*/ 4633912 h 4643437"/>
              <a:gd name="connsiteX3" fmla="*/ 1509713 w 2652713"/>
              <a:gd name="connsiteY3" fmla="*/ 2657475 h 4643437"/>
              <a:gd name="connsiteX4" fmla="*/ 171450 w 2652713"/>
              <a:gd name="connsiteY4" fmla="*/ 2652712 h 4643437"/>
              <a:gd name="connsiteX5" fmla="*/ 176213 w 2652713"/>
              <a:gd name="connsiteY5" fmla="*/ 2019300 h 4643437"/>
              <a:gd name="connsiteX6" fmla="*/ 1519238 w 2652713"/>
              <a:gd name="connsiteY6" fmla="*/ 2033587 h 4643437"/>
              <a:gd name="connsiteX7" fmla="*/ 1522413 w 2652713"/>
              <a:gd name="connsiteY7" fmla="*/ 1925637 h 4643437"/>
              <a:gd name="connsiteX8" fmla="*/ 1624013 w 2652713"/>
              <a:gd name="connsiteY8" fmla="*/ 1928812 h 4643437"/>
              <a:gd name="connsiteX9" fmla="*/ 1619250 w 2652713"/>
              <a:gd name="connsiteY9" fmla="*/ 1816100 h 4643437"/>
              <a:gd name="connsiteX10" fmla="*/ 2652713 w 2652713"/>
              <a:gd name="connsiteY10" fmla="*/ 1824037 h 4643437"/>
              <a:gd name="connsiteX11" fmla="*/ 2652713 w 2652713"/>
              <a:gd name="connsiteY11" fmla="*/ 1347787 h 4643437"/>
              <a:gd name="connsiteX12" fmla="*/ 2433638 w 2652713"/>
              <a:gd name="connsiteY12" fmla="*/ 1347787 h 4643437"/>
              <a:gd name="connsiteX13" fmla="*/ 2443163 w 2652713"/>
              <a:gd name="connsiteY13" fmla="*/ 371475 h 4643437"/>
              <a:gd name="connsiteX14" fmla="*/ 2652713 w 2652713"/>
              <a:gd name="connsiteY14" fmla="*/ 366712 h 4643437"/>
              <a:gd name="connsiteX15" fmla="*/ 2652713 w 2652713"/>
              <a:gd name="connsiteY15" fmla="*/ 0 h 4643437"/>
              <a:gd name="connsiteX16" fmla="*/ 0 w 2652713"/>
              <a:gd name="connsiteY16" fmla="*/ 4762 h 4643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652713" h="4643437">
                <a:moveTo>
                  <a:pt x="0" y="4762"/>
                </a:moveTo>
                <a:lnTo>
                  <a:pt x="0" y="4643437"/>
                </a:lnTo>
                <a:lnTo>
                  <a:pt x="1514475" y="4633912"/>
                </a:lnTo>
                <a:cubicBezTo>
                  <a:pt x="1512888" y="3975100"/>
                  <a:pt x="1511300" y="3316287"/>
                  <a:pt x="1509713" y="2657475"/>
                </a:cubicBezTo>
                <a:lnTo>
                  <a:pt x="171450" y="2652712"/>
                </a:lnTo>
                <a:cubicBezTo>
                  <a:pt x="173038" y="2441575"/>
                  <a:pt x="174625" y="2230437"/>
                  <a:pt x="176213" y="2019300"/>
                </a:cubicBezTo>
                <a:lnTo>
                  <a:pt x="1519238" y="2033587"/>
                </a:lnTo>
                <a:cubicBezTo>
                  <a:pt x="1520296" y="1997604"/>
                  <a:pt x="1521355" y="1961620"/>
                  <a:pt x="1522413" y="1925637"/>
                </a:cubicBezTo>
                <a:lnTo>
                  <a:pt x="1624013" y="1928812"/>
                </a:lnTo>
                <a:lnTo>
                  <a:pt x="1619250" y="1816100"/>
                </a:lnTo>
                <a:lnTo>
                  <a:pt x="2652713" y="1824037"/>
                </a:lnTo>
                <a:lnTo>
                  <a:pt x="2652713" y="1347787"/>
                </a:lnTo>
                <a:lnTo>
                  <a:pt x="2433638" y="1347787"/>
                </a:lnTo>
                <a:lnTo>
                  <a:pt x="2443163" y="371475"/>
                </a:lnTo>
                <a:lnTo>
                  <a:pt x="2652713" y="366712"/>
                </a:lnTo>
                <a:lnTo>
                  <a:pt x="2652713" y="0"/>
                </a:lnTo>
                <a:lnTo>
                  <a:pt x="0" y="4762"/>
                </a:lnTo>
                <a:close/>
              </a:path>
            </a:pathLst>
          </a:custGeom>
          <a:solidFill>
            <a:srgbClr val="D1D1D1">
              <a:alpha val="89804"/>
            </a:srgb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AD87BF-7D66-DDCA-CA69-52E1091BF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472" y="5553236"/>
            <a:ext cx="3025552" cy="7200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i="1">
                <a:solidFill>
                  <a:schemeClr val="tx1">
                    <a:lumMod val="65000"/>
                    <a:lumOff val="35000"/>
                  </a:schemeClr>
                </a:solidFill>
                <a:latin typeface="Eras Demi ITC" panose="020B0805030504020804" pitchFamily="34" charset="0"/>
              </a:rPr>
              <a:t>MDD400 Ground Planes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1DA1DF-1E5A-4765-6BD6-86C0A65F65A8}"/>
              </a:ext>
            </a:extLst>
          </p:cNvPr>
          <p:cNvSpPr/>
          <p:nvPr/>
        </p:nvSpPr>
        <p:spPr>
          <a:xfrm>
            <a:off x="1883532" y="548680"/>
            <a:ext cx="1767860" cy="828092"/>
          </a:xfrm>
          <a:prstGeom prst="rect">
            <a:avLst/>
          </a:prstGeom>
          <a:solidFill>
            <a:srgbClr val="215F9A">
              <a:alpha val="89804"/>
            </a:srgbClr>
          </a:solidFill>
          <a:ln w="1905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E6DECA-8DB3-5B4B-B0A3-070A8923A565}"/>
              </a:ext>
            </a:extLst>
          </p:cNvPr>
          <p:cNvSpPr txBox="1"/>
          <p:nvPr/>
        </p:nvSpPr>
        <p:spPr>
          <a:xfrm>
            <a:off x="1811524" y="584684"/>
            <a:ext cx="17678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>
                <a:solidFill>
                  <a:schemeClr val="bg1"/>
                </a:solidFill>
              </a:rPr>
              <a:t>GNDSMPS</a:t>
            </a:r>
          </a:p>
          <a:p>
            <a:r>
              <a:rPr lang="en-US" sz="600">
                <a:solidFill>
                  <a:schemeClr val="bg1"/>
                </a:solidFill>
              </a:rPr>
              <a:t>DC-DC converter ground refrerence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E444D3-78E4-9085-BB6D-F919381FB8B8}"/>
              </a:ext>
            </a:extLst>
          </p:cNvPr>
          <p:cNvSpPr txBox="1"/>
          <p:nvPr/>
        </p:nvSpPr>
        <p:spPr>
          <a:xfrm>
            <a:off x="1811524" y="1647825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>
                <a:solidFill>
                  <a:schemeClr val="bg1"/>
                </a:solidFill>
              </a:rPr>
              <a:t>GNDC</a:t>
            </a:r>
          </a:p>
          <a:p>
            <a:r>
              <a:rPr lang="en-US" sz="600">
                <a:solidFill>
                  <a:schemeClr val="bg1"/>
                </a:solidFill>
              </a:rPr>
              <a:t>Filtered CAN ground reference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7C5643-2E96-E19A-332D-C0DEEAE84FA6}"/>
              </a:ext>
            </a:extLst>
          </p:cNvPr>
          <p:cNvSpPr txBox="1"/>
          <p:nvPr/>
        </p:nvSpPr>
        <p:spPr>
          <a:xfrm>
            <a:off x="2459596" y="2560081"/>
            <a:ext cx="11486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b="1">
                <a:solidFill>
                  <a:schemeClr val="bg1"/>
                </a:solidFill>
              </a:rPr>
              <a:t>NET-C</a:t>
            </a:r>
          </a:p>
          <a:p>
            <a:pPr algn="r"/>
            <a:r>
              <a:rPr lang="en-US" sz="600">
                <a:solidFill>
                  <a:schemeClr val="bg1"/>
                </a:solidFill>
              </a:rPr>
              <a:t>NMEA 2000 Ground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76611E-9414-A7D1-466D-DAE4BC7FC5CF}"/>
              </a:ext>
            </a:extLst>
          </p:cNvPr>
          <p:cNvSpPr txBox="1"/>
          <p:nvPr/>
        </p:nvSpPr>
        <p:spPr>
          <a:xfrm>
            <a:off x="3824201" y="584683"/>
            <a:ext cx="19806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>
                <a:solidFill>
                  <a:schemeClr val="tx1">
                    <a:lumMod val="85000"/>
                    <a:lumOff val="15000"/>
                  </a:schemeClr>
                </a:solidFill>
              </a:rPr>
              <a:t>GNDREF</a:t>
            </a:r>
          </a:p>
          <a:p>
            <a:r>
              <a:rPr lang="en-US" sz="600">
                <a:solidFill>
                  <a:schemeClr val="tx1">
                    <a:lumMod val="85000"/>
                    <a:lumOff val="15000"/>
                  </a:schemeClr>
                </a:solidFill>
              </a:rPr>
              <a:t>Digital domain signal ground reference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D9B432-F872-8C02-EA3C-76DE230CEA18}"/>
              </a:ext>
            </a:extLst>
          </p:cNvPr>
          <p:cNvSpPr/>
          <p:nvPr/>
        </p:nvSpPr>
        <p:spPr>
          <a:xfrm>
            <a:off x="5465770" y="2600908"/>
            <a:ext cx="1054093" cy="2609267"/>
          </a:xfrm>
          <a:prstGeom prst="rect">
            <a:avLst/>
          </a:prstGeom>
          <a:solidFill>
            <a:srgbClr val="11838F">
              <a:alpha val="89804"/>
            </a:srgbClr>
          </a:solidFill>
          <a:ln w="190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C9ACC4-8751-6DCA-5232-3BF197F2CB9C}"/>
              </a:ext>
            </a:extLst>
          </p:cNvPr>
          <p:cNvSpPr txBox="1"/>
          <p:nvPr/>
        </p:nvSpPr>
        <p:spPr>
          <a:xfrm>
            <a:off x="5437951" y="2654856"/>
            <a:ext cx="1054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>
                <a:solidFill>
                  <a:schemeClr val="bg1"/>
                </a:solidFill>
              </a:rPr>
              <a:t>GNDST</a:t>
            </a:r>
          </a:p>
          <a:p>
            <a:r>
              <a:rPr lang="en-US" sz="600">
                <a:solidFill>
                  <a:schemeClr val="bg1"/>
                </a:solidFill>
              </a:rPr>
              <a:t>SeaTalk / NMEA 0183 Ground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39AEEB-5E0F-E83E-045D-7B3D1976FC9B}"/>
              </a:ext>
            </a:extLst>
          </p:cNvPr>
          <p:cNvSpPr txBox="1"/>
          <p:nvPr/>
        </p:nvSpPr>
        <p:spPr>
          <a:xfrm>
            <a:off x="2248633" y="2353930"/>
            <a:ext cx="4828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b="1">
                <a:solidFill>
                  <a:schemeClr val="bg1"/>
                </a:solidFill>
              </a:rPr>
              <a:t>CM Choke</a:t>
            </a:r>
          </a:p>
          <a:p>
            <a:pPr algn="ctr"/>
            <a:r>
              <a:rPr lang="en-US" sz="500" b="1">
                <a:solidFill>
                  <a:schemeClr val="bg1"/>
                </a:solidFill>
              </a:rPr>
              <a:t>(12V)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CADC81-F222-B9CC-7E44-48B9F1DA2A0E}"/>
              </a:ext>
            </a:extLst>
          </p:cNvPr>
          <p:cNvSpPr txBox="1"/>
          <p:nvPr/>
        </p:nvSpPr>
        <p:spPr>
          <a:xfrm>
            <a:off x="2772093" y="2354687"/>
            <a:ext cx="4828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b="1">
                <a:solidFill>
                  <a:schemeClr val="bg1"/>
                </a:solidFill>
              </a:rPr>
              <a:t>CM Choke</a:t>
            </a:r>
          </a:p>
          <a:p>
            <a:pPr algn="ctr"/>
            <a:r>
              <a:rPr lang="en-US" sz="500" b="1">
                <a:solidFill>
                  <a:schemeClr val="bg1"/>
                </a:solidFill>
              </a:rPr>
              <a:t>(CAN)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F26AE9-DADD-B8AE-0DF6-A43F241A72CD}"/>
              </a:ext>
            </a:extLst>
          </p:cNvPr>
          <p:cNvSpPr txBox="1"/>
          <p:nvPr/>
        </p:nvSpPr>
        <p:spPr>
          <a:xfrm>
            <a:off x="2079355" y="1419171"/>
            <a:ext cx="41069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b="1">
                <a:solidFill>
                  <a:schemeClr val="bg1"/>
                </a:solidFill>
              </a:rPr>
              <a:t>Ferrites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9EAC7F-2A61-2754-15E9-07EEE73D3CE2}"/>
              </a:ext>
            </a:extLst>
          </p:cNvPr>
          <p:cNvSpPr txBox="1"/>
          <p:nvPr/>
        </p:nvSpPr>
        <p:spPr>
          <a:xfrm rot="16200000">
            <a:off x="3562287" y="794989"/>
            <a:ext cx="41069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b="1">
                <a:solidFill>
                  <a:schemeClr val="bg1"/>
                </a:solidFill>
              </a:rPr>
              <a:t>Ferrites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BE5D57A-23A1-F6B8-CF32-1845C85BE49B}"/>
              </a:ext>
            </a:extLst>
          </p:cNvPr>
          <p:cNvSpPr txBox="1"/>
          <p:nvPr/>
        </p:nvSpPr>
        <p:spPr>
          <a:xfrm>
            <a:off x="5688087" y="2393008"/>
            <a:ext cx="60946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b="1">
                <a:solidFill>
                  <a:schemeClr val="bg1"/>
                </a:solidFill>
              </a:rPr>
              <a:t>Opto-isolators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AD931B-5F0B-2AA5-3279-C6E851071151}"/>
              </a:ext>
            </a:extLst>
          </p:cNvPr>
          <p:cNvSpPr txBox="1"/>
          <p:nvPr/>
        </p:nvSpPr>
        <p:spPr>
          <a:xfrm>
            <a:off x="4302654" y="2803817"/>
            <a:ext cx="6719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b="1">
                <a:solidFill>
                  <a:schemeClr val="tx1">
                    <a:lumMod val="85000"/>
                    <a:lumOff val="15000"/>
                  </a:schemeClr>
                </a:solidFill>
              </a:rPr>
              <a:t>Display FFC</a:t>
            </a:r>
            <a:br>
              <a:rPr lang="en-US" sz="700" b="1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700" b="1">
                <a:solidFill>
                  <a:schemeClr val="tx1">
                    <a:lumMod val="85000"/>
                    <a:lumOff val="15000"/>
                  </a:schemeClr>
                </a:solidFill>
              </a:rPr>
              <a:t>Cutout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2414151-6B52-D96B-C2AF-6D8F21352EAA}"/>
              </a:ext>
            </a:extLst>
          </p:cNvPr>
          <p:cNvSpPr/>
          <p:nvPr/>
        </p:nvSpPr>
        <p:spPr>
          <a:xfrm>
            <a:off x="4070521" y="2636912"/>
            <a:ext cx="1296144" cy="5400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8541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776D50-D360-937A-95AE-07D20605A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C536EF5-13FA-B8AB-D6E8-EB2FAAE79285}"/>
              </a:ext>
            </a:extLst>
          </p:cNvPr>
          <p:cNvSpPr/>
          <p:nvPr/>
        </p:nvSpPr>
        <p:spPr>
          <a:xfrm>
            <a:off x="1235460" y="152636"/>
            <a:ext cx="5868652" cy="6120680"/>
          </a:xfrm>
          <a:prstGeom prst="rect">
            <a:avLst/>
          </a:prstGeom>
          <a:solidFill>
            <a:srgbClr val="F5F4EF"/>
          </a:solidFill>
          <a:ln w="19050">
            <a:solidFill>
              <a:srgbClr val="8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2EACED-0E19-21E6-AC73-BF7F8E5E7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729" y="415274"/>
            <a:ext cx="4978943" cy="49473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217E81-ED03-849E-C61D-F5A86E7B1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472" y="5553236"/>
            <a:ext cx="3025552" cy="7200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i="1">
                <a:solidFill>
                  <a:schemeClr val="tx1">
                    <a:lumMod val="65000"/>
                    <a:lumOff val="35000"/>
                  </a:schemeClr>
                </a:solidFill>
                <a:latin typeface="Eras Demi ITC" panose="020B0805030504020804" pitchFamily="34" charset="0"/>
              </a:rPr>
              <a:t>MDD400 Ground Planes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0EA29D-C1F2-C859-0EAF-A0A57E36C3C1}"/>
              </a:ext>
            </a:extLst>
          </p:cNvPr>
          <p:cNvSpPr txBox="1"/>
          <p:nvPr/>
        </p:nvSpPr>
        <p:spPr>
          <a:xfrm rot="16200000">
            <a:off x="3562287" y="794989"/>
            <a:ext cx="41069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b="1">
                <a:solidFill>
                  <a:schemeClr val="bg1"/>
                </a:solidFill>
              </a:rPr>
              <a:t>Ferrites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7775AF3-E1FC-B231-255F-995DFE9BED29}"/>
              </a:ext>
            </a:extLst>
          </p:cNvPr>
          <p:cNvSpPr txBox="1"/>
          <p:nvPr/>
        </p:nvSpPr>
        <p:spPr>
          <a:xfrm>
            <a:off x="5688087" y="2393008"/>
            <a:ext cx="60946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b="1">
                <a:solidFill>
                  <a:schemeClr val="bg1"/>
                </a:solidFill>
              </a:rPr>
              <a:t>Opto-isolators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4DD0B2-845F-C9A1-3FA2-BD874A6CAD6C}"/>
              </a:ext>
            </a:extLst>
          </p:cNvPr>
          <p:cNvSpPr txBox="1"/>
          <p:nvPr/>
        </p:nvSpPr>
        <p:spPr>
          <a:xfrm>
            <a:off x="4302654" y="2803817"/>
            <a:ext cx="6719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b="1">
                <a:solidFill>
                  <a:schemeClr val="tx1">
                    <a:lumMod val="85000"/>
                    <a:lumOff val="15000"/>
                  </a:schemeClr>
                </a:solidFill>
              </a:rPr>
              <a:t>Display FFC</a:t>
            </a:r>
            <a:br>
              <a:rPr lang="en-US" sz="700" b="1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700" b="1">
                <a:solidFill>
                  <a:schemeClr val="tx1">
                    <a:lumMod val="85000"/>
                    <a:lumOff val="15000"/>
                  </a:schemeClr>
                </a:solidFill>
              </a:rPr>
              <a:t>Cutout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616145-BD9B-5A7E-5896-7EA21D594744}"/>
              </a:ext>
            </a:extLst>
          </p:cNvPr>
          <p:cNvSpPr/>
          <p:nvPr/>
        </p:nvSpPr>
        <p:spPr>
          <a:xfrm>
            <a:off x="1893632" y="3897052"/>
            <a:ext cx="1656183" cy="1276896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60D38A7C-783F-26D5-5EDF-F20641F8F94B}"/>
              </a:ext>
            </a:extLst>
          </p:cNvPr>
          <p:cNvSpPr/>
          <p:nvPr/>
        </p:nvSpPr>
        <p:spPr>
          <a:xfrm>
            <a:off x="5433317" y="1572911"/>
            <a:ext cx="1044116" cy="432048"/>
          </a:xfrm>
          <a:prstGeom prst="wedgeRoundRectCallout">
            <a:avLst>
              <a:gd name="adj1" fmla="val -45058"/>
              <a:gd name="adj2" fmla="val 147744"/>
              <a:gd name="adj3" fmla="val 16667"/>
            </a:avLst>
          </a:prstGeom>
          <a:solidFill>
            <a:srgbClr val="F5F4EF"/>
          </a:solidFill>
          <a:ln w="19050">
            <a:solidFill>
              <a:srgbClr val="8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>
                <a:solidFill>
                  <a:schemeClr val="tx1">
                    <a:lumMod val="75000"/>
                    <a:lumOff val="25000"/>
                  </a:schemeClr>
                </a:solidFill>
              </a:rPr>
              <a:t>No components or traces in this area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5345CF-C1CD-C635-DB5A-F748C20213F2}"/>
              </a:ext>
            </a:extLst>
          </p:cNvPr>
          <p:cNvSpPr/>
          <p:nvPr/>
        </p:nvSpPr>
        <p:spPr>
          <a:xfrm>
            <a:off x="3810551" y="2472958"/>
            <a:ext cx="1656183" cy="2772308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89844778-551B-BB2B-445E-9CE52BA3AF72}"/>
              </a:ext>
            </a:extLst>
          </p:cNvPr>
          <p:cNvSpPr/>
          <p:nvPr/>
        </p:nvSpPr>
        <p:spPr>
          <a:xfrm>
            <a:off x="2274334" y="2981467"/>
            <a:ext cx="1044116" cy="432048"/>
          </a:xfrm>
          <a:prstGeom prst="wedgeRoundRectCallout">
            <a:avLst>
              <a:gd name="adj1" fmla="val -45058"/>
              <a:gd name="adj2" fmla="val 147744"/>
              <a:gd name="adj3" fmla="val 16667"/>
            </a:avLst>
          </a:prstGeom>
          <a:solidFill>
            <a:srgbClr val="F5F4EF"/>
          </a:solidFill>
          <a:ln w="19050">
            <a:solidFill>
              <a:srgbClr val="8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>
                <a:solidFill>
                  <a:schemeClr val="tx1">
                    <a:lumMod val="75000"/>
                    <a:lumOff val="25000"/>
                  </a:schemeClr>
                </a:solidFill>
              </a:rPr>
              <a:t>No components or traces in this area</a:t>
            </a:r>
          </a:p>
        </p:txBody>
      </p:sp>
    </p:spTree>
    <p:extLst>
      <p:ext uri="{BB962C8B-B14F-4D97-AF65-F5344CB8AC3E}">
        <p14:creationId xmlns:p14="http://schemas.microsoft.com/office/powerpoint/2010/main" val="1425979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C4723-7A13-7B8A-53B8-7F9A8F75A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B0E54D8-B5EE-8FBC-1209-EA13E0DF5893}"/>
              </a:ext>
            </a:extLst>
          </p:cNvPr>
          <p:cNvSpPr/>
          <p:nvPr/>
        </p:nvSpPr>
        <p:spPr>
          <a:xfrm>
            <a:off x="1235460" y="152636"/>
            <a:ext cx="5868652" cy="6120680"/>
          </a:xfrm>
          <a:prstGeom prst="rect">
            <a:avLst/>
          </a:prstGeom>
          <a:solidFill>
            <a:srgbClr val="F5F4EF"/>
          </a:solidFill>
          <a:ln w="19050">
            <a:solidFill>
              <a:srgbClr val="8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864FAA-C5C7-BFF4-C546-2903D5866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8137" y="412549"/>
            <a:ext cx="4967408" cy="49953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FE6C64-0D55-ED98-2AE9-954AC3885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472" y="5553236"/>
            <a:ext cx="3025552" cy="7200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i="1">
                <a:solidFill>
                  <a:schemeClr val="tx1">
                    <a:lumMod val="65000"/>
                    <a:lumOff val="35000"/>
                  </a:schemeClr>
                </a:solidFill>
                <a:latin typeface="Eras Demi ITC" panose="020B0805030504020804" pitchFamily="34" charset="0"/>
              </a:rPr>
              <a:t>Thermal Management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164CAF-0975-F6E9-6FBD-96DDE95D00C8}"/>
              </a:ext>
            </a:extLst>
          </p:cNvPr>
          <p:cNvSpPr/>
          <p:nvPr/>
        </p:nvSpPr>
        <p:spPr>
          <a:xfrm>
            <a:off x="4896941" y="3255179"/>
            <a:ext cx="947031" cy="821893"/>
          </a:xfrm>
          <a:prstGeom prst="rect">
            <a:avLst/>
          </a:prstGeom>
          <a:solidFill>
            <a:srgbClr val="CC00CC">
              <a:alpha val="89804"/>
            </a:srgbClr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84FA08-0BBF-FF34-CB76-AEB745E1194C}"/>
              </a:ext>
            </a:extLst>
          </p:cNvPr>
          <p:cNvSpPr txBox="1"/>
          <p:nvPr/>
        </p:nvSpPr>
        <p:spPr>
          <a:xfrm>
            <a:off x="4896941" y="3248033"/>
            <a:ext cx="94703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SM8S36CA TVS </a:t>
            </a:r>
          </a:p>
          <a:p>
            <a:pPr algn="ctr"/>
            <a:r>
              <a:rPr lang="en-US" sz="900" b="1">
                <a:solidFill>
                  <a:schemeClr val="bg1"/>
                </a:solidFill>
              </a:rPr>
              <a:t>(6.6kW)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73E15C-6DB6-3C3D-4323-7251CFA75CEB}"/>
              </a:ext>
            </a:extLst>
          </p:cNvPr>
          <p:cNvSpPr/>
          <p:nvPr/>
        </p:nvSpPr>
        <p:spPr>
          <a:xfrm>
            <a:off x="5390273" y="969970"/>
            <a:ext cx="561712" cy="610495"/>
          </a:xfrm>
          <a:prstGeom prst="rect">
            <a:avLst/>
          </a:prstGeom>
          <a:solidFill>
            <a:srgbClr val="11838F">
              <a:alpha val="89804"/>
            </a:srgbClr>
          </a:solidFill>
          <a:ln w="19050">
            <a:solidFill>
              <a:srgbClr val="118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086A15-ACDB-C69D-861D-AB58F218DFC8}"/>
              </a:ext>
            </a:extLst>
          </p:cNvPr>
          <p:cNvSpPr txBox="1"/>
          <p:nvPr/>
        </p:nvSpPr>
        <p:spPr>
          <a:xfrm>
            <a:off x="5390273" y="1016137"/>
            <a:ext cx="561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5.5V SMPS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E71630-A6D6-364C-B2B0-1CE7CD4BA086}"/>
              </a:ext>
            </a:extLst>
          </p:cNvPr>
          <p:cNvSpPr/>
          <p:nvPr/>
        </p:nvSpPr>
        <p:spPr>
          <a:xfrm>
            <a:off x="2207568" y="1088740"/>
            <a:ext cx="648072" cy="540060"/>
          </a:xfrm>
          <a:prstGeom prst="rect">
            <a:avLst/>
          </a:prstGeom>
          <a:solidFill>
            <a:srgbClr val="A20000">
              <a:alpha val="89804"/>
            </a:srgbClr>
          </a:solidFill>
          <a:ln w="19050">
            <a:solidFill>
              <a:srgbClr val="8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2832FC-9CA4-9832-6BE9-B8B36C70CE1B}"/>
              </a:ext>
            </a:extLst>
          </p:cNvPr>
          <p:cNvSpPr txBox="1"/>
          <p:nvPr/>
        </p:nvSpPr>
        <p:spPr>
          <a:xfrm>
            <a:off x="2207568" y="1070885"/>
            <a:ext cx="6480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ESP-32</a:t>
            </a:r>
            <a:endParaRPr lang="en-US" sz="60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321101-7437-5394-E6CA-E16F26B3022D}"/>
              </a:ext>
            </a:extLst>
          </p:cNvPr>
          <p:cNvSpPr/>
          <p:nvPr/>
        </p:nvSpPr>
        <p:spPr>
          <a:xfrm>
            <a:off x="3206104" y="692697"/>
            <a:ext cx="561712" cy="666074"/>
          </a:xfrm>
          <a:prstGeom prst="rect">
            <a:avLst/>
          </a:prstGeom>
          <a:solidFill>
            <a:srgbClr val="009600">
              <a:alpha val="89804"/>
            </a:srgbClr>
          </a:solidFill>
          <a:ln w="19050">
            <a:solidFill>
              <a:srgbClr val="009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E0FBF2-6B79-342A-BB9D-E533DB8E5E63}"/>
              </a:ext>
            </a:extLst>
          </p:cNvPr>
          <p:cNvSpPr txBox="1"/>
          <p:nvPr/>
        </p:nvSpPr>
        <p:spPr>
          <a:xfrm>
            <a:off x="3205446" y="737389"/>
            <a:ext cx="561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3.3V SMPS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D35CB1-84CD-31D4-B1E7-DC65979B6B5B}"/>
              </a:ext>
            </a:extLst>
          </p:cNvPr>
          <p:cNvSpPr/>
          <p:nvPr/>
        </p:nvSpPr>
        <p:spPr>
          <a:xfrm>
            <a:off x="3695903" y="1447089"/>
            <a:ext cx="348622" cy="369332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630F70-AACA-AACB-F284-7B85067F26BC}"/>
              </a:ext>
            </a:extLst>
          </p:cNvPr>
          <p:cNvSpPr txBox="1"/>
          <p:nvPr/>
        </p:nvSpPr>
        <p:spPr>
          <a:xfrm>
            <a:off x="3390979" y="1816421"/>
            <a:ext cx="958470" cy="369332"/>
          </a:xfrm>
          <a:prstGeom prst="rect">
            <a:avLst/>
          </a:prstGeom>
          <a:solidFill>
            <a:srgbClr val="D9D9D9">
              <a:alpha val="2902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TEMPERATURE SENSOR</a:t>
            </a:r>
            <a:endParaRPr lang="en-US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4798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973DDE-3556-6273-883D-E3759EAF2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8D0CEA3-D61B-5199-66C5-566C884A81BB}"/>
              </a:ext>
            </a:extLst>
          </p:cNvPr>
          <p:cNvSpPr/>
          <p:nvPr/>
        </p:nvSpPr>
        <p:spPr>
          <a:xfrm>
            <a:off x="1019436" y="1844824"/>
            <a:ext cx="6624736" cy="4428492"/>
          </a:xfrm>
          <a:prstGeom prst="rect">
            <a:avLst/>
          </a:prstGeom>
          <a:solidFill>
            <a:srgbClr val="F5F4EF"/>
          </a:solidFill>
          <a:ln w="19050">
            <a:solidFill>
              <a:srgbClr val="8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7BCF9E-6035-669C-5ADB-8BD409FB9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472" y="5553236"/>
            <a:ext cx="3780420" cy="7200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600" i="1">
                <a:solidFill>
                  <a:schemeClr val="tx1">
                    <a:lumMod val="65000"/>
                    <a:lumOff val="35000"/>
                  </a:schemeClr>
                </a:solidFill>
                <a:latin typeface="Eras Demi ITC" panose="020B0805030504020804" pitchFamily="34" charset="0"/>
              </a:rPr>
              <a:t>SMPS Ground Plane and Layout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571846-D08F-4F66-274B-CDE43FE5E5FA}"/>
              </a:ext>
            </a:extLst>
          </p:cNvPr>
          <p:cNvSpPr txBox="1"/>
          <p:nvPr/>
        </p:nvSpPr>
        <p:spPr>
          <a:xfrm rot="16200000">
            <a:off x="3562287" y="794989"/>
            <a:ext cx="41069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b="1">
                <a:solidFill>
                  <a:schemeClr val="bg1"/>
                </a:solidFill>
              </a:rPr>
              <a:t>Ferrites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4E5FA6-45DF-A9E3-6EDB-6A71F2D92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492" y="2520360"/>
            <a:ext cx="5832648" cy="3144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011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5F4EF"/>
        </a:solidFill>
        <a:ln w="19050">
          <a:solidFill>
            <a:srgbClr val="840000"/>
          </a:solidFill>
        </a:ln>
      </a:spPr>
      <a:bodyPr rtlCol="0" anchor="ctr"/>
      <a:lstStyle>
        <a:defPPr algn="ctr">
          <a:defRPr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009600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1740</TotalTime>
  <Words>202</Words>
  <Application>Microsoft Office PowerPoint</Application>
  <PresentationFormat>Widescreen</PresentationFormat>
  <Paragraphs>73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Eras Demi ITC</vt:lpstr>
      <vt:lpstr>Office Theme</vt:lpstr>
      <vt:lpstr>PowerPoint Presentation</vt:lpstr>
      <vt:lpstr>PowerPoint Presentation</vt:lpstr>
      <vt:lpstr>MDD400 Isolation Domains</vt:lpstr>
      <vt:lpstr>MDD400 Functional Block Diagram</vt:lpstr>
      <vt:lpstr>MDD400 Ground Planes</vt:lpstr>
      <vt:lpstr>MDD400 Ground Planes</vt:lpstr>
      <vt:lpstr>Thermal Management</vt:lpstr>
      <vt:lpstr>SMPS Ground Plane and Layout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Gerhard Malan</dc:creator>
  <cp:lastModifiedBy>Gerhard Malan</cp:lastModifiedBy>
  <cp:revision>18</cp:revision>
  <dcterms:created xsi:type="dcterms:W3CDTF">2025-07-22T00:51:10Z</dcterms:created>
  <dcterms:modified xsi:type="dcterms:W3CDTF">2025-08-01T06:50:34Z</dcterms:modified>
</cp:coreProperties>
</file>